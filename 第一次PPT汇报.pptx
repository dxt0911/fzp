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5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91" d="100"/>
          <a:sy n="91" d="100"/>
        </p:scale>
        <p:origin x="13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851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0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8C0522-E8B7-4576-B873-48B7248F60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F79BBD6-3386-48C6-9ED9-E92A64B4BF5E}">
      <dgm:prSet phldrT="[文本]" custT="1"/>
      <dgm:spPr/>
      <dgm:t>
        <a:bodyPr/>
        <a:lstStyle/>
        <a:p>
          <a:pPr algn="ctr"/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精确半径演算 ：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21508C-188D-465B-AEA9-DD5303D44C2E}" type="parTrans" cxnId="{C40FD101-86ED-4A69-99EB-2E7388991CBB}">
      <dgm:prSet/>
      <dgm:spPr/>
      <dgm:t>
        <a:bodyPr/>
        <a:lstStyle/>
        <a:p>
          <a:endParaRPr lang="zh-CN" altLang="en-US"/>
        </a:p>
      </dgm:t>
    </dgm:pt>
    <dgm:pt modelId="{84A6C658-09D4-44BE-BCFE-264476679A2A}" type="sibTrans" cxnId="{C40FD101-86ED-4A69-99EB-2E7388991CBB}">
      <dgm:prSet/>
      <dgm:spPr/>
      <dgm:t>
        <a:bodyPr/>
        <a:lstStyle/>
        <a:p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72E9BCC-68C4-480A-B598-54B311B32B7B}">
          <dgm:prSet phldrT="[文本]" custT="1"/>
          <dgm:spPr/>
          <dgm:t>
            <a:bodyPr/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采用非近似相位补偿模型：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</m:ctrlPr>
                    </m:sSubPr>
                    <m:e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𝑟</m:t>
                      </m:r>
                    </m:e>
                    <m: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𝑛</m:t>
                      </m:r>
                    </m:sub>
                  </m:sSub>
                  <m:r>
                    <a:rPr lang="en-US" altLang="zh-CN" sz="1400" b="0" i="1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  <m:t>=</m:t>
                  </m:r>
                  <m:rad>
                    <m:radPr>
                      <m:degHide m:val="on"/>
                      <m:ctrlP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</m:ctrlPr>
                    </m:radPr>
                    <m:deg/>
                    <m:e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𝑛</m:t>
                      </m:r>
                      <m:r>
                        <a:rPr lang="zh-CN" altLang="en-US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zh-CN" altLang="en-US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e>
                          </m:d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</m:e>
                  </m:rad>
                </m:oMath>
              </a14:m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dgm:t>
        </dgm:pt>
      </mc:Choice>
      <mc:Fallback xmlns="">
        <dgm:pt modelId="{572E9BCC-68C4-480A-B598-54B311B32B7B}">
          <dgm:prSet phldrT="[文本]" custT="1"/>
          <dgm:spPr/>
          <dgm:t>
            <a:bodyPr/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采用非近似相位补偿模型：</a:t>
              </a:r>
              <a:r>
                <a:rPr lang="en-US" altLang="zh-CN" sz="1400" b="0" i="0">
                  <a:latin typeface="Cambria Math" panose="02040503050406030204" pitchFamily="18" charset="0"/>
                  <a:ea typeface="微软雅黑" panose="020B0503020204020204" pitchFamily="34" charset="-122"/>
                </a:rPr>
                <a:t>𝑟_𝑛=√(𝑛</a:t>
              </a:r>
              <a:r>
                <a:rPr lang="zh-CN" altLang="en-US" sz="1400" b="0" i="0">
                  <a:latin typeface="Cambria Math" panose="02040503050406030204" pitchFamily="18" charset="0"/>
                  <a:ea typeface="微软雅黑" panose="020B0503020204020204" pitchFamily="34" charset="-122"/>
                </a:rPr>
                <a:t>𝜆</a:t>
              </a:r>
              <a:r>
                <a:rPr lang="en-US" altLang="zh-CN" sz="1400" b="0" i="0">
                  <a:latin typeface="Cambria Math" panose="02040503050406030204" pitchFamily="18" charset="0"/>
                  <a:ea typeface="微软雅黑" panose="020B0503020204020204" pitchFamily="34" charset="-122"/>
                </a:rPr>
                <a:t>𝑓+(𝑛</a:t>
              </a:r>
              <a:r>
                <a:rPr lang="zh-CN" altLang="en-US" sz="1400" b="0" i="0">
                  <a:latin typeface="Cambria Math" panose="02040503050406030204" pitchFamily="18" charset="0"/>
                  <a:ea typeface="微软雅黑" panose="020B0503020204020204" pitchFamily="34" charset="-122"/>
                </a:rPr>
                <a:t>𝜆</a:t>
              </a:r>
              <a:r>
                <a:rPr lang="en-US" altLang="zh-CN" sz="1400" b="0" i="0">
                  <a:latin typeface="Cambria Math" panose="02040503050406030204" pitchFamily="18" charset="0"/>
                  <a:ea typeface="微软雅黑" panose="020B0503020204020204" pitchFamily="34" charset="-122"/>
                </a:rPr>
                <a:t>/2)^2 )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dgm:t>
        </dgm:pt>
      </mc:Fallback>
    </mc:AlternateContent>
    <dgm:pt modelId="{E2EF1D89-2525-4014-8BF8-AEA2D650F715}" type="parTrans" cxnId="{8F76C0D3-1F28-40F2-9AB7-0273889B31FE}">
      <dgm:prSet/>
      <dgm:spPr/>
      <dgm:t>
        <a:bodyPr/>
        <a:lstStyle/>
        <a:p>
          <a:endParaRPr lang="zh-CN" altLang="en-US"/>
        </a:p>
      </dgm:t>
    </dgm:pt>
    <dgm:pt modelId="{8DB37A9E-BF42-496D-8AF0-556583B77F9E}" type="sibTrans" cxnId="{8F76C0D3-1F28-40F2-9AB7-0273889B31FE}">
      <dgm:prSet/>
      <dgm:spPr/>
      <dgm:t>
        <a:bodyPr/>
        <a:lstStyle/>
        <a:p>
          <a:endParaRPr lang="zh-CN" altLang="en-US"/>
        </a:p>
      </dgm:t>
    </dgm:pt>
    <dgm:pt modelId="{3381A321-4F1B-4F17-B509-B4DAE54FC17C}">
      <dgm:prSet phldrT="[文本]" custT="1"/>
      <dgm:spPr/>
      <dgm:t>
        <a:bodyPr/>
        <a:lstStyle/>
        <a:p>
          <a:pPr algn="ctr"/>
          <a:r>
            <a:rPr lang="zh-CN" altLang="en-US" sz="1800" b="1" dirty="0"/>
            <a:t>数字化制备 </a:t>
          </a:r>
          <a:r>
            <a:rPr lang="en-US" sz="1800" b="1" dirty="0"/>
            <a:t>：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4773701-FF5A-4B49-934E-D08FAD5E090B}" type="parTrans" cxnId="{20D2CFF2-A7D5-43FE-AE90-8D3CC36FEC92}">
      <dgm:prSet/>
      <dgm:spPr/>
      <dgm:t>
        <a:bodyPr/>
        <a:lstStyle/>
        <a:p>
          <a:endParaRPr lang="zh-CN" altLang="en-US"/>
        </a:p>
      </dgm:t>
    </dgm:pt>
    <dgm:pt modelId="{FF744B95-C4A6-4CB0-90BB-9D0214D2E065}" type="sibTrans" cxnId="{20D2CFF2-A7D5-43FE-AE90-8D3CC36FEC92}">
      <dgm:prSet/>
      <dgm:spPr/>
      <dgm:t>
        <a:bodyPr/>
        <a:lstStyle/>
        <a:p>
          <a:endParaRPr lang="zh-CN" altLang="en-US"/>
        </a:p>
      </dgm:t>
    </dgm:pt>
    <dgm:pt modelId="{935C40EA-B3CF-4C79-8F29-E575C4DBB890}">
      <dgm:prSet phldrT="[文本]" custT="1"/>
      <dgm:spPr/>
      <dgm:t>
        <a:bodyPr/>
        <a:lstStyle/>
        <a:p>
          <a:r>
            <a: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利用 </a:t>
          </a:r>
          <a:r>
            <a: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Python </a:t>
          </a:r>
          <a:r>
            <a: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实现亚像素级坐标映射，输出 </a:t>
          </a:r>
          <a:r>
            <a: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3600 DPI </a:t>
          </a:r>
          <a:r>
            <a: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级别的工业级矢量图形。</a:t>
          </a:r>
          <a:endParaRPr lang="zh-CN" altLang="en-US" sz="1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A9A8C0A-B79E-4D9A-8544-11410CE680CE}" type="parTrans" cxnId="{5A718D47-921E-47CA-B12B-A49AEC6243AA}">
      <dgm:prSet/>
      <dgm:spPr/>
      <dgm:t>
        <a:bodyPr/>
        <a:lstStyle/>
        <a:p>
          <a:endParaRPr lang="zh-CN" altLang="en-US"/>
        </a:p>
      </dgm:t>
    </dgm:pt>
    <dgm:pt modelId="{3C51CEE7-4DCD-4009-9E29-10AA4CF30A66}" type="sibTrans" cxnId="{5A718D47-921E-47CA-B12B-A49AEC6243AA}">
      <dgm:prSet/>
      <dgm:spPr/>
      <dgm:t>
        <a:bodyPr/>
        <a:lstStyle/>
        <a:p>
          <a:endParaRPr lang="zh-CN" altLang="en-US"/>
        </a:p>
      </dgm:t>
    </dgm:pt>
    <dgm:pt modelId="{CB63415A-E55E-4CCA-8569-E55CDFB524D7}">
      <dgm:prSet phldrT="[文本]" custT="1"/>
      <dgm:spPr/>
      <dgm:t>
        <a:bodyPr/>
        <a:lstStyle/>
        <a:p>
          <a:r>
            <a: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设计初衷： 消除近轴近似带来的累积相位差，确保在高带数（</a:t>
          </a:r>
          <a:r>
            <a:rPr lang="en-US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N&gt;100</a:t>
          </a:r>
          <a:r>
            <a: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）情况下的干涉波前完整度。</a:t>
          </a:r>
        </a:p>
      </dgm:t>
    </dgm:pt>
    <dgm:pt modelId="{E40DCCD1-45C6-4992-BB57-B648923D1E08}" type="parTrans" cxnId="{4E3906C7-DD0A-47C0-9E04-3E8D656DEDAB}">
      <dgm:prSet/>
      <dgm:spPr/>
      <dgm:t>
        <a:bodyPr/>
        <a:lstStyle/>
        <a:p>
          <a:endParaRPr lang="zh-CN" altLang="en-US"/>
        </a:p>
      </dgm:t>
    </dgm:pt>
    <dgm:pt modelId="{B72414AF-A1D0-4FAA-9D53-8FFC66C258FB}" type="sibTrans" cxnId="{4E3906C7-DD0A-47C0-9E04-3E8D656DEDAB}">
      <dgm:prSet/>
      <dgm:spPr/>
      <dgm:t>
        <a:bodyPr/>
        <a:lstStyle/>
        <a:p>
          <a:endParaRPr lang="zh-CN" altLang="en-US"/>
        </a:p>
      </dgm:t>
    </dgm:pt>
    <dgm:pt modelId="{74DE48FB-489D-421B-BA55-952D63AC2E56}">
      <dgm:prSet phldrT="[文本]" custT="1"/>
      <dgm:spPr/>
      <dgm:t>
        <a:bodyPr/>
        <a:lstStyle/>
        <a:p>
          <a:r>
            <a:rPr lang="zh-CN" altLang="en-US" sz="1400" b="0" dirty="0"/>
            <a:t>物理属性： 生成具备高消光比的二元振幅掩模，确保“透光区”与“遮挡区”的相位阶跃锐利。</a:t>
          </a:r>
          <a:endParaRPr lang="zh-CN" altLang="en-US" sz="14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76F54D-48CD-4A5C-8030-BDA33015A8B4}" type="parTrans" cxnId="{371EA0E6-67B4-4426-8F70-016036681834}">
      <dgm:prSet/>
      <dgm:spPr/>
      <dgm:t>
        <a:bodyPr/>
        <a:lstStyle/>
        <a:p>
          <a:endParaRPr lang="zh-CN" altLang="en-US"/>
        </a:p>
      </dgm:t>
    </dgm:pt>
    <dgm:pt modelId="{23D6DA01-55EB-4F01-BAC2-BCF64AEAC24E}" type="sibTrans" cxnId="{371EA0E6-67B4-4426-8F70-016036681834}">
      <dgm:prSet/>
      <dgm:spPr/>
      <dgm:t>
        <a:bodyPr/>
        <a:lstStyle/>
        <a:p>
          <a:endParaRPr lang="zh-CN" altLang="en-US"/>
        </a:p>
      </dgm:t>
    </dgm:pt>
    <dgm:pt modelId="{2A108576-7F90-467A-80AD-F42829ABCFE0}" type="pres">
      <dgm:prSet presAssocID="{D08C0522-E8B7-4576-B873-48B7248F6075}" presName="linear" presStyleCnt="0">
        <dgm:presLayoutVars>
          <dgm:animLvl val="lvl"/>
          <dgm:resizeHandles val="exact"/>
        </dgm:presLayoutVars>
      </dgm:prSet>
      <dgm:spPr/>
    </dgm:pt>
    <dgm:pt modelId="{912AFADE-5B9C-4CE0-B983-797A66A56491}" type="pres">
      <dgm:prSet presAssocID="{4F79BBD6-3386-48C6-9ED9-E92A64B4BF5E}" presName="parentText" presStyleLbl="node1" presStyleIdx="0" presStyleCnt="2" custScaleX="100000" custScaleY="45719" custLinFactNeighborX="0" custLinFactNeighborY="-4474">
        <dgm:presLayoutVars>
          <dgm:chMax val="0"/>
          <dgm:bulletEnabled val="1"/>
        </dgm:presLayoutVars>
      </dgm:prSet>
      <dgm:spPr/>
    </dgm:pt>
    <dgm:pt modelId="{37CD2CD0-ABA5-4F7B-BCE6-B012E044B171}" type="pres">
      <dgm:prSet presAssocID="{4F79BBD6-3386-48C6-9ED9-E92A64B4BF5E}" presName="childText" presStyleLbl="revTx" presStyleIdx="0" presStyleCnt="2" custLinFactNeighborY="-8717">
        <dgm:presLayoutVars>
          <dgm:bulletEnabled val="1"/>
        </dgm:presLayoutVars>
      </dgm:prSet>
      <dgm:spPr/>
    </dgm:pt>
    <dgm:pt modelId="{C28B430E-BBE2-4083-971B-BD68CE943AC4}" type="pres">
      <dgm:prSet presAssocID="{3381A321-4F1B-4F17-B509-B4DAE54FC17C}" presName="parentText" presStyleLbl="node1" presStyleIdx="1" presStyleCnt="2" custScaleY="46384" custLinFactNeighborY="-9564">
        <dgm:presLayoutVars>
          <dgm:chMax val="0"/>
          <dgm:bulletEnabled val="1"/>
        </dgm:presLayoutVars>
      </dgm:prSet>
      <dgm:spPr/>
    </dgm:pt>
    <dgm:pt modelId="{F1549A75-6BE4-4B6E-997F-2EFC55DADC2C}" type="pres">
      <dgm:prSet presAssocID="{3381A321-4F1B-4F17-B509-B4DAE54FC17C}" presName="childText" presStyleLbl="revTx" presStyleIdx="1" presStyleCnt="2" custLinFactNeighborY="-13768">
        <dgm:presLayoutVars>
          <dgm:bulletEnabled val="1"/>
        </dgm:presLayoutVars>
      </dgm:prSet>
      <dgm:spPr/>
    </dgm:pt>
  </dgm:ptLst>
  <dgm:cxnLst>
    <dgm:cxn modelId="{C40FD101-86ED-4A69-99EB-2E7388991CBB}" srcId="{D08C0522-E8B7-4576-B873-48B7248F6075}" destId="{4F79BBD6-3386-48C6-9ED9-E92A64B4BF5E}" srcOrd="0" destOrd="0" parTransId="{D121508C-188D-465B-AEA9-DD5303D44C2E}" sibTransId="{84A6C658-09D4-44BE-BCFE-264476679A2A}"/>
    <dgm:cxn modelId="{B2580E12-50E2-4296-B4FA-27CEA74851B8}" type="presOf" srcId="{CB63415A-E55E-4CCA-8569-E55CDFB524D7}" destId="{37CD2CD0-ABA5-4F7B-BCE6-B012E044B171}" srcOrd="0" destOrd="1" presId="urn:microsoft.com/office/officeart/2005/8/layout/vList2"/>
    <dgm:cxn modelId="{5A718D47-921E-47CA-B12B-A49AEC6243AA}" srcId="{3381A321-4F1B-4F17-B509-B4DAE54FC17C}" destId="{935C40EA-B3CF-4C79-8F29-E575C4DBB890}" srcOrd="0" destOrd="0" parTransId="{1A9A8C0A-B79E-4D9A-8544-11410CE680CE}" sibTransId="{3C51CEE7-4DCD-4009-9E29-10AA4CF30A66}"/>
    <dgm:cxn modelId="{4E401D69-2176-4C8C-B19D-4E0D86420924}" type="presOf" srcId="{572E9BCC-68C4-480A-B598-54B311B32B7B}" destId="{37CD2CD0-ABA5-4F7B-BCE6-B012E044B171}" srcOrd="0" destOrd="0" presId="urn:microsoft.com/office/officeart/2005/8/layout/vList2"/>
    <dgm:cxn modelId="{FCBCFB57-2BB3-487B-8F3B-805F4350B971}" type="presOf" srcId="{4F79BBD6-3386-48C6-9ED9-E92A64B4BF5E}" destId="{912AFADE-5B9C-4CE0-B983-797A66A56491}" srcOrd="0" destOrd="0" presId="urn:microsoft.com/office/officeart/2005/8/layout/vList2"/>
    <dgm:cxn modelId="{4E3906C7-DD0A-47C0-9E04-3E8D656DEDAB}" srcId="{4F79BBD6-3386-48C6-9ED9-E92A64B4BF5E}" destId="{CB63415A-E55E-4CCA-8569-E55CDFB524D7}" srcOrd="1" destOrd="0" parTransId="{E40DCCD1-45C6-4992-BB57-B648923D1E08}" sibTransId="{B72414AF-A1D0-4FAA-9D53-8FFC66C258FB}"/>
    <dgm:cxn modelId="{94FE8FC9-4B70-4A0E-9B00-6436973F62E3}" type="presOf" srcId="{935C40EA-B3CF-4C79-8F29-E575C4DBB890}" destId="{F1549A75-6BE4-4B6E-997F-2EFC55DADC2C}" srcOrd="0" destOrd="0" presId="urn:microsoft.com/office/officeart/2005/8/layout/vList2"/>
    <dgm:cxn modelId="{CC676BCD-A120-4F4E-B8A6-0C78C03E3FDE}" type="presOf" srcId="{74DE48FB-489D-421B-BA55-952D63AC2E56}" destId="{F1549A75-6BE4-4B6E-997F-2EFC55DADC2C}" srcOrd="0" destOrd="1" presId="urn:microsoft.com/office/officeart/2005/8/layout/vList2"/>
    <dgm:cxn modelId="{8F76C0D3-1F28-40F2-9AB7-0273889B31FE}" srcId="{4F79BBD6-3386-48C6-9ED9-E92A64B4BF5E}" destId="{572E9BCC-68C4-480A-B598-54B311B32B7B}" srcOrd="0" destOrd="0" parTransId="{E2EF1D89-2525-4014-8BF8-AEA2D650F715}" sibTransId="{8DB37A9E-BF42-496D-8AF0-556583B77F9E}"/>
    <dgm:cxn modelId="{A7C4A5D4-6404-46DE-9CC9-D032281D23C1}" type="presOf" srcId="{D08C0522-E8B7-4576-B873-48B7248F6075}" destId="{2A108576-7F90-467A-80AD-F42829ABCFE0}" srcOrd="0" destOrd="0" presId="urn:microsoft.com/office/officeart/2005/8/layout/vList2"/>
    <dgm:cxn modelId="{627637D8-5755-48A2-A68E-C5AD45A67A68}" type="presOf" srcId="{3381A321-4F1B-4F17-B509-B4DAE54FC17C}" destId="{C28B430E-BBE2-4083-971B-BD68CE943AC4}" srcOrd="0" destOrd="0" presId="urn:microsoft.com/office/officeart/2005/8/layout/vList2"/>
    <dgm:cxn modelId="{371EA0E6-67B4-4426-8F70-016036681834}" srcId="{3381A321-4F1B-4F17-B509-B4DAE54FC17C}" destId="{74DE48FB-489D-421B-BA55-952D63AC2E56}" srcOrd="1" destOrd="0" parTransId="{FA76F54D-48CD-4A5C-8030-BDA33015A8B4}" sibTransId="{23D6DA01-55EB-4F01-BAC2-BCF64AEAC24E}"/>
    <dgm:cxn modelId="{20D2CFF2-A7D5-43FE-AE90-8D3CC36FEC92}" srcId="{D08C0522-E8B7-4576-B873-48B7248F6075}" destId="{3381A321-4F1B-4F17-B509-B4DAE54FC17C}" srcOrd="1" destOrd="0" parTransId="{A4773701-FF5A-4B49-934E-D08FAD5E090B}" sibTransId="{FF744B95-C4A6-4CB0-90BB-9D0214D2E065}"/>
    <dgm:cxn modelId="{C2436B41-924E-42CE-90B0-B9F8A0FB0933}" type="presParOf" srcId="{2A108576-7F90-467A-80AD-F42829ABCFE0}" destId="{912AFADE-5B9C-4CE0-B983-797A66A56491}" srcOrd="0" destOrd="0" presId="urn:microsoft.com/office/officeart/2005/8/layout/vList2"/>
    <dgm:cxn modelId="{3FA8C83B-A552-4F66-A4BC-2E64C702D888}" type="presParOf" srcId="{2A108576-7F90-467A-80AD-F42829ABCFE0}" destId="{37CD2CD0-ABA5-4F7B-BCE6-B012E044B171}" srcOrd="1" destOrd="0" presId="urn:microsoft.com/office/officeart/2005/8/layout/vList2"/>
    <dgm:cxn modelId="{BEA8BE3F-80D0-4195-9E46-55F642AB6C52}" type="presParOf" srcId="{2A108576-7F90-467A-80AD-F42829ABCFE0}" destId="{C28B430E-BBE2-4083-971B-BD68CE943AC4}" srcOrd="2" destOrd="0" presId="urn:microsoft.com/office/officeart/2005/8/layout/vList2"/>
    <dgm:cxn modelId="{FBD7BCB7-B06B-4CFB-9770-F7B536C6AA25}" type="presParOf" srcId="{2A108576-7F90-467A-80AD-F42829ABCFE0}" destId="{F1549A75-6BE4-4B6E-997F-2EFC55DADC2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8C0522-E8B7-4576-B873-48B7248F60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F79BBD6-3386-48C6-9ED9-E92A64B4BF5E}">
      <dgm:prSet phldrT="[文本]" custT="1"/>
      <dgm:spPr/>
      <dgm:t>
        <a:bodyPr/>
        <a:lstStyle/>
        <a:p>
          <a:pPr algn="ctr"/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精确半径演算 ：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21508C-188D-465B-AEA9-DD5303D44C2E}" type="parTrans" cxnId="{C40FD101-86ED-4A69-99EB-2E7388991CBB}">
      <dgm:prSet/>
      <dgm:spPr/>
      <dgm:t>
        <a:bodyPr/>
        <a:lstStyle/>
        <a:p>
          <a:endParaRPr lang="zh-CN" altLang="en-US"/>
        </a:p>
      </dgm:t>
    </dgm:pt>
    <dgm:pt modelId="{84A6C658-09D4-44BE-BCFE-264476679A2A}" type="sibTrans" cxnId="{C40FD101-86ED-4A69-99EB-2E7388991CBB}">
      <dgm:prSet/>
      <dgm:spPr/>
      <dgm:t>
        <a:bodyPr/>
        <a:lstStyle/>
        <a:p>
          <a:endParaRPr lang="zh-CN" altLang="en-US"/>
        </a:p>
      </dgm:t>
    </dgm:pt>
    <dgm:pt modelId="{572E9BCC-68C4-480A-B598-54B311B32B7B}">
      <dgm:prSet phldrT="[文本]" custT="1"/>
      <dgm:spPr>
        <a:blipFill>
          <a:blip xmlns:r="http://schemas.openxmlformats.org/officeDocument/2006/relationships" r:embed="rId1"/>
          <a:stretch>
            <a:fillRect l="-955" t="-6173" r="-4618" b="-9465"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E2EF1D89-2525-4014-8BF8-AEA2D650F715}" type="parTrans" cxnId="{8F76C0D3-1F28-40F2-9AB7-0273889B31FE}">
      <dgm:prSet/>
      <dgm:spPr/>
      <dgm:t>
        <a:bodyPr/>
        <a:lstStyle/>
        <a:p>
          <a:endParaRPr lang="zh-CN" altLang="en-US"/>
        </a:p>
      </dgm:t>
    </dgm:pt>
    <dgm:pt modelId="{8DB37A9E-BF42-496D-8AF0-556583B77F9E}" type="sibTrans" cxnId="{8F76C0D3-1F28-40F2-9AB7-0273889B31FE}">
      <dgm:prSet/>
      <dgm:spPr/>
      <dgm:t>
        <a:bodyPr/>
        <a:lstStyle/>
        <a:p>
          <a:endParaRPr lang="zh-CN" altLang="en-US"/>
        </a:p>
      </dgm:t>
    </dgm:pt>
    <dgm:pt modelId="{3381A321-4F1B-4F17-B509-B4DAE54FC17C}">
      <dgm:prSet phldrT="[文本]" custT="1"/>
      <dgm:spPr/>
      <dgm:t>
        <a:bodyPr/>
        <a:lstStyle/>
        <a:p>
          <a:pPr algn="ctr"/>
          <a:r>
            <a:rPr lang="zh-CN" altLang="en-US" sz="1800" b="1" dirty="0"/>
            <a:t>数字化制备 </a:t>
          </a:r>
          <a:r>
            <a:rPr lang="en-US" sz="1800" b="1" dirty="0"/>
            <a:t>：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4773701-FF5A-4B49-934E-D08FAD5E090B}" type="parTrans" cxnId="{20D2CFF2-A7D5-43FE-AE90-8D3CC36FEC92}">
      <dgm:prSet/>
      <dgm:spPr/>
      <dgm:t>
        <a:bodyPr/>
        <a:lstStyle/>
        <a:p>
          <a:endParaRPr lang="zh-CN" altLang="en-US"/>
        </a:p>
      </dgm:t>
    </dgm:pt>
    <dgm:pt modelId="{FF744B95-C4A6-4CB0-90BB-9D0214D2E065}" type="sibTrans" cxnId="{20D2CFF2-A7D5-43FE-AE90-8D3CC36FEC92}">
      <dgm:prSet/>
      <dgm:spPr/>
      <dgm:t>
        <a:bodyPr/>
        <a:lstStyle/>
        <a:p>
          <a:endParaRPr lang="zh-CN" altLang="en-US"/>
        </a:p>
      </dgm:t>
    </dgm:pt>
    <dgm:pt modelId="{935C40EA-B3CF-4C79-8F29-E575C4DBB890}">
      <dgm:prSet phldrT="[文本]" custT="1"/>
      <dgm:spPr/>
      <dgm:t>
        <a:bodyPr/>
        <a:lstStyle/>
        <a:p>
          <a:r>
            <a: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利用 </a:t>
          </a:r>
          <a:r>
            <a: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Python </a:t>
          </a:r>
          <a:r>
            <a: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实现亚像素级坐标映射，输出 </a:t>
          </a:r>
          <a:r>
            <a: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3600 DPI </a:t>
          </a:r>
          <a:r>
            <a: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级别的工业级矢量图形。</a:t>
          </a:r>
          <a:endParaRPr lang="zh-CN" altLang="en-US" sz="1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A9A8C0A-B79E-4D9A-8544-11410CE680CE}" type="parTrans" cxnId="{5A718D47-921E-47CA-B12B-A49AEC6243AA}">
      <dgm:prSet/>
      <dgm:spPr/>
      <dgm:t>
        <a:bodyPr/>
        <a:lstStyle/>
        <a:p>
          <a:endParaRPr lang="zh-CN" altLang="en-US"/>
        </a:p>
      </dgm:t>
    </dgm:pt>
    <dgm:pt modelId="{3C51CEE7-4DCD-4009-9E29-10AA4CF30A66}" type="sibTrans" cxnId="{5A718D47-921E-47CA-B12B-A49AEC6243AA}">
      <dgm:prSet/>
      <dgm:spPr/>
      <dgm:t>
        <a:bodyPr/>
        <a:lstStyle/>
        <a:p>
          <a:endParaRPr lang="zh-CN" altLang="en-US"/>
        </a:p>
      </dgm:t>
    </dgm:pt>
    <dgm:pt modelId="{CB63415A-E55E-4CCA-8569-E55CDFB524D7}">
      <dgm:prSet phldrT="[文本]" custT="1"/>
      <dgm:spPr/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E40DCCD1-45C6-4992-BB57-B648923D1E08}" type="parTrans" cxnId="{4E3906C7-DD0A-47C0-9E04-3E8D656DEDAB}">
      <dgm:prSet/>
      <dgm:spPr/>
      <dgm:t>
        <a:bodyPr/>
        <a:lstStyle/>
        <a:p>
          <a:endParaRPr lang="zh-CN" altLang="en-US"/>
        </a:p>
      </dgm:t>
    </dgm:pt>
    <dgm:pt modelId="{B72414AF-A1D0-4FAA-9D53-8FFC66C258FB}" type="sibTrans" cxnId="{4E3906C7-DD0A-47C0-9E04-3E8D656DEDAB}">
      <dgm:prSet/>
      <dgm:spPr/>
      <dgm:t>
        <a:bodyPr/>
        <a:lstStyle/>
        <a:p>
          <a:endParaRPr lang="zh-CN" altLang="en-US"/>
        </a:p>
      </dgm:t>
    </dgm:pt>
    <dgm:pt modelId="{74DE48FB-489D-421B-BA55-952D63AC2E56}">
      <dgm:prSet phldrT="[文本]" custT="1"/>
      <dgm:spPr/>
      <dgm:t>
        <a:bodyPr/>
        <a:lstStyle/>
        <a:p>
          <a:r>
            <a:rPr lang="zh-CN" altLang="en-US" sz="1400" b="0" dirty="0"/>
            <a:t>物理属性： 生成具备高消光比的二元振幅掩模，确保“透光区”与“遮挡区”的相位阶跃锐利。</a:t>
          </a:r>
          <a:endParaRPr lang="zh-CN" altLang="en-US" sz="14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76F54D-48CD-4A5C-8030-BDA33015A8B4}" type="parTrans" cxnId="{371EA0E6-67B4-4426-8F70-016036681834}">
      <dgm:prSet/>
      <dgm:spPr/>
      <dgm:t>
        <a:bodyPr/>
        <a:lstStyle/>
        <a:p>
          <a:endParaRPr lang="zh-CN" altLang="en-US"/>
        </a:p>
      </dgm:t>
    </dgm:pt>
    <dgm:pt modelId="{23D6DA01-55EB-4F01-BAC2-BCF64AEAC24E}" type="sibTrans" cxnId="{371EA0E6-67B4-4426-8F70-016036681834}">
      <dgm:prSet/>
      <dgm:spPr/>
      <dgm:t>
        <a:bodyPr/>
        <a:lstStyle/>
        <a:p>
          <a:endParaRPr lang="zh-CN" altLang="en-US"/>
        </a:p>
      </dgm:t>
    </dgm:pt>
    <dgm:pt modelId="{2A108576-7F90-467A-80AD-F42829ABCFE0}" type="pres">
      <dgm:prSet presAssocID="{D08C0522-E8B7-4576-B873-48B7248F6075}" presName="linear" presStyleCnt="0">
        <dgm:presLayoutVars>
          <dgm:animLvl val="lvl"/>
          <dgm:resizeHandles val="exact"/>
        </dgm:presLayoutVars>
      </dgm:prSet>
      <dgm:spPr/>
    </dgm:pt>
    <dgm:pt modelId="{912AFADE-5B9C-4CE0-B983-797A66A56491}" type="pres">
      <dgm:prSet presAssocID="{4F79BBD6-3386-48C6-9ED9-E92A64B4BF5E}" presName="parentText" presStyleLbl="node1" presStyleIdx="0" presStyleCnt="2" custScaleX="100000" custScaleY="45719" custLinFactNeighborX="0" custLinFactNeighborY="-4474">
        <dgm:presLayoutVars>
          <dgm:chMax val="0"/>
          <dgm:bulletEnabled val="1"/>
        </dgm:presLayoutVars>
      </dgm:prSet>
      <dgm:spPr/>
    </dgm:pt>
    <dgm:pt modelId="{37CD2CD0-ABA5-4F7B-BCE6-B012E044B171}" type="pres">
      <dgm:prSet presAssocID="{4F79BBD6-3386-48C6-9ED9-E92A64B4BF5E}" presName="childText" presStyleLbl="revTx" presStyleIdx="0" presStyleCnt="2" custLinFactNeighborY="-8717">
        <dgm:presLayoutVars>
          <dgm:bulletEnabled val="1"/>
        </dgm:presLayoutVars>
      </dgm:prSet>
      <dgm:spPr/>
    </dgm:pt>
    <dgm:pt modelId="{C28B430E-BBE2-4083-971B-BD68CE943AC4}" type="pres">
      <dgm:prSet presAssocID="{3381A321-4F1B-4F17-B509-B4DAE54FC17C}" presName="parentText" presStyleLbl="node1" presStyleIdx="1" presStyleCnt="2" custScaleY="46384" custLinFactNeighborY="-9564">
        <dgm:presLayoutVars>
          <dgm:chMax val="0"/>
          <dgm:bulletEnabled val="1"/>
        </dgm:presLayoutVars>
      </dgm:prSet>
      <dgm:spPr/>
    </dgm:pt>
    <dgm:pt modelId="{F1549A75-6BE4-4B6E-997F-2EFC55DADC2C}" type="pres">
      <dgm:prSet presAssocID="{3381A321-4F1B-4F17-B509-B4DAE54FC17C}" presName="childText" presStyleLbl="revTx" presStyleIdx="1" presStyleCnt="2" custLinFactNeighborY="-13768">
        <dgm:presLayoutVars>
          <dgm:bulletEnabled val="1"/>
        </dgm:presLayoutVars>
      </dgm:prSet>
      <dgm:spPr/>
    </dgm:pt>
  </dgm:ptLst>
  <dgm:cxnLst>
    <dgm:cxn modelId="{C40FD101-86ED-4A69-99EB-2E7388991CBB}" srcId="{D08C0522-E8B7-4576-B873-48B7248F6075}" destId="{4F79BBD6-3386-48C6-9ED9-E92A64B4BF5E}" srcOrd="0" destOrd="0" parTransId="{D121508C-188D-465B-AEA9-DD5303D44C2E}" sibTransId="{84A6C658-09D4-44BE-BCFE-264476679A2A}"/>
    <dgm:cxn modelId="{B2580E12-50E2-4296-B4FA-27CEA74851B8}" type="presOf" srcId="{CB63415A-E55E-4CCA-8569-E55CDFB524D7}" destId="{37CD2CD0-ABA5-4F7B-BCE6-B012E044B171}" srcOrd="0" destOrd="1" presId="urn:microsoft.com/office/officeart/2005/8/layout/vList2"/>
    <dgm:cxn modelId="{5A718D47-921E-47CA-B12B-A49AEC6243AA}" srcId="{3381A321-4F1B-4F17-B509-B4DAE54FC17C}" destId="{935C40EA-B3CF-4C79-8F29-E575C4DBB890}" srcOrd="0" destOrd="0" parTransId="{1A9A8C0A-B79E-4D9A-8544-11410CE680CE}" sibTransId="{3C51CEE7-4DCD-4009-9E29-10AA4CF30A66}"/>
    <dgm:cxn modelId="{4E401D69-2176-4C8C-B19D-4E0D86420924}" type="presOf" srcId="{572E9BCC-68C4-480A-B598-54B311B32B7B}" destId="{37CD2CD0-ABA5-4F7B-BCE6-B012E044B171}" srcOrd="0" destOrd="0" presId="urn:microsoft.com/office/officeart/2005/8/layout/vList2"/>
    <dgm:cxn modelId="{FCBCFB57-2BB3-487B-8F3B-805F4350B971}" type="presOf" srcId="{4F79BBD6-3386-48C6-9ED9-E92A64B4BF5E}" destId="{912AFADE-5B9C-4CE0-B983-797A66A56491}" srcOrd="0" destOrd="0" presId="urn:microsoft.com/office/officeart/2005/8/layout/vList2"/>
    <dgm:cxn modelId="{4E3906C7-DD0A-47C0-9E04-3E8D656DEDAB}" srcId="{4F79BBD6-3386-48C6-9ED9-E92A64B4BF5E}" destId="{CB63415A-E55E-4CCA-8569-E55CDFB524D7}" srcOrd="1" destOrd="0" parTransId="{E40DCCD1-45C6-4992-BB57-B648923D1E08}" sibTransId="{B72414AF-A1D0-4FAA-9D53-8FFC66C258FB}"/>
    <dgm:cxn modelId="{94FE8FC9-4B70-4A0E-9B00-6436973F62E3}" type="presOf" srcId="{935C40EA-B3CF-4C79-8F29-E575C4DBB890}" destId="{F1549A75-6BE4-4B6E-997F-2EFC55DADC2C}" srcOrd="0" destOrd="0" presId="urn:microsoft.com/office/officeart/2005/8/layout/vList2"/>
    <dgm:cxn modelId="{CC676BCD-A120-4F4E-B8A6-0C78C03E3FDE}" type="presOf" srcId="{74DE48FB-489D-421B-BA55-952D63AC2E56}" destId="{F1549A75-6BE4-4B6E-997F-2EFC55DADC2C}" srcOrd="0" destOrd="1" presId="urn:microsoft.com/office/officeart/2005/8/layout/vList2"/>
    <dgm:cxn modelId="{8F76C0D3-1F28-40F2-9AB7-0273889B31FE}" srcId="{4F79BBD6-3386-48C6-9ED9-E92A64B4BF5E}" destId="{572E9BCC-68C4-480A-B598-54B311B32B7B}" srcOrd="0" destOrd="0" parTransId="{E2EF1D89-2525-4014-8BF8-AEA2D650F715}" sibTransId="{8DB37A9E-BF42-496D-8AF0-556583B77F9E}"/>
    <dgm:cxn modelId="{A7C4A5D4-6404-46DE-9CC9-D032281D23C1}" type="presOf" srcId="{D08C0522-E8B7-4576-B873-48B7248F6075}" destId="{2A108576-7F90-467A-80AD-F42829ABCFE0}" srcOrd="0" destOrd="0" presId="urn:microsoft.com/office/officeart/2005/8/layout/vList2"/>
    <dgm:cxn modelId="{627637D8-5755-48A2-A68E-C5AD45A67A68}" type="presOf" srcId="{3381A321-4F1B-4F17-B509-B4DAE54FC17C}" destId="{C28B430E-BBE2-4083-971B-BD68CE943AC4}" srcOrd="0" destOrd="0" presId="urn:microsoft.com/office/officeart/2005/8/layout/vList2"/>
    <dgm:cxn modelId="{371EA0E6-67B4-4426-8F70-016036681834}" srcId="{3381A321-4F1B-4F17-B509-B4DAE54FC17C}" destId="{74DE48FB-489D-421B-BA55-952D63AC2E56}" srcOrd="1" destOrd="0" parTransId="{FA76F54D-48CD-4A5C-8030-BDA33015A8B4}" sibTransId="{23D6DA01-55EB-4F01-BAC2-BCF64AEAC24E}"/>
    <dgm:cxn modelId="{20D2CFF2-A7D5-43FE-AE90-8D3CC36FEC92}" srcId="{D08C0522-E8B7-4576-B873-48B7248F6075}" destId="{3381A321-4F1B-4F17-B509-B4DAE54FC17C}" srcOrd="1" destOrd="0" parTransId="{A4773701-FF5A-4B49-934E-D08FAD5E090B}" sibTransId="{FF744B95-C4A6-4CB0-90BB-9D0214D2E065}"/>
    <dgm:cxn modelId="{C2436B41-924E-42CE-90B0-B9F8A0FB0933}" type="presParOf" srcId="{2A108576-7F90-467A-80AD-F42829ABCFE0}" destId="{912AFADE-5B9C-4CE0-B983-797A66A56491}" srcOrd="0" destOrd="0" presId="urn:microsoft.com/office/officeart/2005/8/layout/vList2"/>
    <dgm:cxn modelId="{3FA8C83B-A552-4F66-A4BC-2E64C702D888}" type="presParOf" srcId="{2A108576-7F90-467A-80AD-F42829ABCFE0}" destId="{37CD2CD0-ABA5-4F7B-BCE6-B012E044B171}" srcOrd="1" destOrd="0" presId="urn:microsoft.com/office/officeart/2005/8/layout/vList2"/>
    <dgm:cxn modelId="{BEA8BE3F-80D0-4195-9E46-55F642AB6C52}" type="presParOf" srcId="{2A108576-7F90-467A-80AD-F42829ABCFE0}" destId="{C28B430E-BBE2-4083-971B-BD68CE943AC4}" srcOrd="2" destOrd="0" presId="urn:microsoft.com/office/officeart/2005/8/layout/vList2"/>
    <dgm:cxn modelId="{FBD7BCB7-B06B-4CFB-9770-F7B536C6AA25}" type="presParOf" srcId="{2A108576-7F90-467A-80AD-F42829ABCFE0}" destId="{F1549A75-6BE4-4B6E-997F-2EFC55DADC2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2E324A-B412-42D3-BCD2-45ED32F4E0C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00DEE5B-6560-48DF-AABC-D76109A75EA6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核心挑战</a:t>
          </a:r>
        </a:p>
      </dgm:t>
    </dgm:pt>
    <dgm:pt modelId="{F626A4CE-E6A0-4A79-A6B9-EC540D967B4C}" type="parTrans" cxnId="{8BB4D1EF-08EB-4B15-9B2E-FD7D0BA72E28}">
      <dgm:prSet/>
      <dgm:spPr/>
      <dgm:t>
        <a:bodyPr/>
        <a:lstStyle/>
        <a:p>
          <a:endParaRPr lang="zh-CN" altLang="en-US"/>
        </a:p>
      </dgm:t>
    </dgm:pt>
    <dgm:pt modelId="{19964389-809A-47F7-B506-E9DC19B5B3A2}" type="sibTrans" cxnId="{8BB4D1EF-08EB-4B15-9B2E-FD7D0BA72E28}">
      <dgm:prSet/>
      <dgm:spPr/>
      <dgm:t>
        <a:bodyPr/>
        <a:lstStyle/>
        <a:p>
          <a:endParaRPr lang="zh-CN" altLang="en-US"/>
        </a:p>
      </dgm:t>
    </dgm:pt>
    <dgm:pt modelId="{A43E7DF6-B9E1-4B06-9605-1FECDE16136C}">
      <dgm:prSet phldrT="[文本]" custT="1"/>
      <dgm:spPr/>
      <dgm:t>
        <a:bodyPr/>
        <a:lstStyle/>
        <a:p>
          <a:r>
            <a:rPr lang="zh-CN" altLang="en-US" sz="1400" dirty="0"/>
            <a:t>振幅消光比限制： 物理遮挡区的透过率无法绝对清零，产生的零级背景噪声会降低焦点处的信噪比 </a:t>
          </a:r>
          <a:r>
            <a:rPr lang="en-US" altLang="zh-CN" sz="1400" dirty="0"/>
            <a:t>(SNR)</a:t>
          </a:r>
          <a:r>
            <a:rPr lang="zh-CN" altLang="en-US" sz="1400" dirty="0"/>
            <a:t>。</a:t>
          </a:r>
        </a:p>
      </dgm:t>
    </dgm:pt>
    <dgm:pt modelId="{A30A160A-5091-4BCE-A6EB-0C3BB10455E1}" type="parTrans" cxnId="{B607F7BF-CE7F-4DA1-A392-64DEEFAE41A6}">
      <dgm:prSet/>
      <dgm:spPr/>
      <dgm:t>
        <a:bodyPr/>
        <a:lstStyle/>
        <a:p>
          <a:endParaRPr lang="zh-CN" altLang="en-US"/>
        </a:p>
      </dgm:t>
    </dgm:pt>
    <dgm:pt modelId="{44995AC7-EEE3-4C1B-A904-CF8C85D861C7}" type="sibTrans" cxnId="{B607F7BF-CE7F-4DA1-A392-64DEEFAE41A6}">
      <dgm:prSet/>
      <dgm:spPr/>
      <dgm:t>
        <a:bodyPr/>
        <a:lstStyle/>
        <a:p>
          <a:endParaRPr lang="zh-CN" altLang="en-US"/>
        </a:p>
      </dgm:t>
    </dgm:pt>
    <dgm:pt modelId="{C4FEE3DE-6447-45C6-A4ED-17F1B94494F0}">
      <dgm:prSet phldrT="[文本]" custT="1"/>
      <dgm:spPr/>
      <dgm:t>
        <a:bodyPr/>
        <a:lstStyle/>
        <a:p>
          <a:r>
            <a:rPr lang="zh-CN" altLang="en-US" sz="1400" dirty="0"/>
            <a:t>空间采样误差： 数字化制备中的离散点阵会导致边缘呈现微观阶梯状，引入高级次衍射分量。</a:t>
          </a:r>
        </a:p>
      </dgm:t>
    </dgm:pt>
    <dgm:pt modelId="{71D022B2-1526-4839-88EE-299F10661370}" type="parTrans" cxnId="{B45E356C-C859-413D-8A47-58DA0F072525}">
      <dgm:prSet/>
      <dgm:spPr/>
      <dgm:t>
        <a:bodyPr/>
        <a:lstStyle/>
        <a:p>
          <a:endParaRPr lang="zh-CN" altLang="en-US"/>
        </a:p>
      </dgm:t>
    </dgm:pt>
    <dgm:pt modelId="{736BDCB1-0076-4768-8B95-711906D1D7DE}" type="sibTrans" cxnId="{B45E356C-C859-413D-8A47-58DA0F072525}">
      <dgm:prSet/>
      <dgm:spPr/>
      <dgm:t>
        <a:bodyPr/>
        <a:lstStyle/>
        <a:p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E8C26C3-1FD4-47BB-B56F-65961BE688CB}">
          <dgm:prSet phldrT="[文本]" custT="1"/>
          <dgm:spPr/>
          <dgm:t>
            <a:bodyPr/>
            <a:lstStyle/>
            <a:p>
              <a:r>
                <a:rPr lang="zh-CN" altLang="en-US" sz="1400" dirty="0"/>
                <a:t>线宽极限： 当设计焦距 </a:t>
              </a:r>
              <a14:m>
                <m:oMath xmlns:m="http://schemas.openxmlformats.org/officeDocument/2006/math">
                  <m:r>
                    <a:rPr lang="en-US" altLang="zh-CN" sz="1400" b="0" i="1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  <m:t>𝑓</m:t>
                  </m:r>
                </m:oMath>
              </a14:m>
              <a:r>
                <a:rPr lang="zh-CN" altLang="en-US" sz="1400" dirty="0"/>
                <a:t> 较短时，外环线宽趋近于设备物理极限（约 </a:t>
              </a:r>
              <a:r>
                <a:rPr lang="en-US" altLang="zh-CN" sz="1400" dirty="0"/>
                <a:t>7</a:t>
              </a:r>
              <a14:m>
                <m:oMath xmlns:m="http://schemas.openxmlformats.org/officeDocument/2006/math">
                  <m:r>
                    <a:rPr lang="zh-CN" altLang="en-US" sz="1400" i="1" smtClean="0">
                      <a:latin typeface="Cambria Math" panose="02040503050406030204" pitchFamily="18" charset="0"/>
                    </a:rPr>
                    <m:t>𝜇</m:t>
                  </m:r>
                  <m:r>
                    <m:rPr>
                      <m:sty m:val="p"/>
                    </m:rPr>
                    <a:rPr lang="en-US" altLang="zh-CN" sz="1400" i="1" smtClean="0">
                      <a:latin typeface="Cambria Math" panose="02040503050406030204" pitchFamily="18" charset="0"/>
                    </a:rPr>
                    <m:t>m</m:t>
                  </m:r>
                </m:oMath>
              </a14:m>
              <a:r>
                <a:rPr lang="zh-CN" altLang="en-US" sz="1400" dirty="0"/>
                <a:t>），导致衍射效率下降。</a:t>
              </a:r>
            </a:p>
          </dgm:t>
        </dgm:pt>
      </mc:Choice>
      <mc:Fallback xmlns="">
        <dgm:pt modelId="{0E8C26C3-1FD4-47BB-B56F-65961BE688CB}">
          <dgm:prSet phldrT="[文本]" custT="1"/>
          <dgm:spPr/>
          <dgm:t>
            <a:bodyPr/>
            <a:lstStyle/>
            <a:p>
              <a:r>
                <a:rPr lang="zh-CN" altLang="en-US" sz="1400" dirty="0"/>
                <a:t>线宽极限： 当设计焦距 </a:t>
              </a:r>
              <a:r>
                <a:rPr lang="en-US" altLang="zh-CN" sz="1400" b="0" i="0">
                  <a:latin typeface="Cambria Math" panose="02040503050406030204" pitchFamily="18" charset="0"/>
                  <a:ea typeface="微软雅黑" panose="020B0503020204020204" pitchFamily="34" charset="-122"/>
                </a:rPr>
                <a:t>𝑓</a:t>
              </a:r>
              <a:r>
                <a:rPr lang="zh-CN" altLang="en-US" sz="1400" dirty="0"/>
                <a:t> 较短时，外环线宽趋近于设备物理极限（约 </a:t>
              </a:r>
              <a:r>
                <a:rPr lang="en-US" altLang="zh-CN" sz="1400" dirty="0"/>
                <a:t>7</a:t>
              </a:r>
              <a:r>
                <a:rPr lang="zh-CN" altLang="en-US" sz="1400" i="0">
                  <a:latin typeface="Cambria Math" panose="02040503050406030204" pitchFamily="18" charset="0"/>
                </a:rPr>
                <a:t>𝜇</a:t>
              </a:r>
              <a:r>
                <a:rPr lang="en-US" altLang="zh-CN" sz="1400" i="0">
                  <a:latin typeface="Cambria Math" panose="02040503050406030204" pitchFamily="18" charset="0"/>
                </a:rPr>
                <a:t>m</a:t>
              </a:r>
              <a:r>
                <a:rPr lang="zh-CN" altLang="en-US" sz="1400" dirty="0"/>
                <a:t>），导致衍射效率下降。</a:t>
              </a:r>
            </a:p>
          </dgm:t>
        </dgm:pt>
      </mc:Fallback>
    </mc:AlternateContent>
    <dgm:pt modelId="{D0EBF19C-08EF-40AC-94CD-B3396167DA8B}" type="parTrans" cxnId="{61EA26D3-33DD-4A77-9E9D-BB44E21CBBF9}">
      <dgm:prSet/>
      <dgm:spPr/>
      <dgm:t>
        <a:bodyPr/>
        <a:lstStyle/>
        <a:p>
          <a:endParaRPr lang="zh-CN" altLang="en-US"/>
        </a:p>
      </dgm:t>
    </dgm:pt>
    <dgm:pt modelId="{23AE6AA2-5EF2-4826-8D93-5AA6C0A74218}" type="sibTrans" cxnId="{61EA26D3-33DD-4A77-9E9D-BB44E21CBBF9}">
      <dgm:prSet/>
      <dgm:spPr/>
      <dgm:t>
        <a:bodyPr/>
        <a:lstStyle/>
        <a:p>
          <a:endParaRPr lang="zh-CN" altLang="en-US"/>
        </a:p>
      </dgm:t>
    </dgm:pt>
    <dgm:pt modelId="{214BA4D7-CB68-4337-899C-DE150B221413}" type="pres">
      <dgm:prSet presAssocID="{F42E324A-B412-42D3-BCD2-45ED32F4E0CC}" presName="vert0" presStyleCnt="0">
        <dgm:presLayoutVars>
          <dgm:dir/>
          <dgm:animOne val="branch"/>
          <dgm:animLvl val="lvl"/>
        </dgm:presLayoutVars>
      </dgm:prSet>
      <dgm:spPr/>
    </dgm:pt>
    <dgm:pt modelId="{87597F87-D8C6-4BA7-884F-54B4C21A3667}" type="pres">
      <dgm:prSet presAssocID="{D00DEE5B-6560-48DF-AABC-D76109A75EA6}" presName="thickLine" presStyleLbl="alignNode1" presStyleIdx="0" presStyleCnt="1"/>
      <dgm:spPr/>
    </dgm:pt>
    <dgm:pt modelId="{6ED0D358-DBF1-4BB2-81F5-8FA3D22367A1}" type="pres">
      <dgm:prSet presAssocID="{D00DEE5B-6560-48DF-AABC-D76109A75EA6}" presName="horz1" presStyleCnt="0"/>
      <dgm:spPr/>
    </dgm:pt>
    <dgm:pt modelId="{732E6DB0-3D8A-46D1-9A2A-E517F9CD9CF7}" type="pres">
      <dgm:prSet presAssocID="{D00DEE5B-6560-48DF-AABC-D76109A75EA6}" presName="tx1" presStyleLbl="revTx" presStyleIdx="0" presStyleCnt="4" custScaleX="41678" custScaleY="64521" custLinFactNeighborX="546" custLinFactNeighborY="14056"/>
      <dgm:spPr/>
    </dgm:pt>
    <dgm:pt modelId="{4E0D9349-E2EC-40B8-ACDC-A36EB9A7A4B5}" type="pres">
      <dgm:prSet presAssocID="{D00DEE5B-6560-48DF-AABC-D76109A75EA6}" presName="vert1" presStyleCnt="0"/>
      <dgm:spPr/>
    </dgm:pt>
    <dgm:pt modelId="{BFBBA441-D657-476B-A1B3-F30C04190AA0}" type="pres">
      <dgm:prSet presAssocID="{A43E7DF6-B9E1-4B06-9605-1FECDE16136C}" presName="vertSpace2a" presStyleCnt="0"/>
      <dgm:spPr/>
    </dgm:pt>
    <dgm:pt modelId="{3178C31E-F1D5-4961-B006-2E582C6E8847}" type="pres">
      <dgm:prSet presAssocID="{A43E7DF6-B9E1-4B06-9605-1FECDE16136C}" presName="horz2" presStyleCnt="0"/>
      <dgm:spPr/>
    </dgm:pt>
    <dgm:pt modelId="{C5CF8303-753A-44A6-9900-F572A647D87D}" type="pres">
      <dgm:prSet presAssocID="{A43E7DF6-B9E1-4B06-9605-1FECDE16136C}" presName="horzSpace2" presStyleCnt="0"/>
      <dgm:spPr/>
    </dgm:pt>
    <dgm:pt modelId="{89583649-C6DE-4C84-8CA3-F0A3351D96A2}" type="pres">
      <dgm:prSet presAssocID="{A43E7DF6-B9E1-4B06-9605-1FECDE16136C}" presName="tx2" presStyleLbl="revTx" presStyleIdx="1" presStyleCnt="4" custScaleX="110757" custScaleY="102340"/>
      <dgm:spPr/>
    </dgm:pt>
    <dgm:pt modelId="{6C038F3C-60EC-4E70-8458-169D8D770E32}" type="pres">
      <dgm:prSet presAssocID="{A43E7DF6-B9E1-4B06-9605-1FECDE16136C}" presName="vert2" presStyleCnt="0"/>
      <dgm:spPr/>
    </dgm:pt>
    <dgm:pt modelId="{2E7649CA-7EC9-46CB-A4F0-C48371699E46}" type="pres">
      <dgm:prSet presAssocID="{A43E7DF6-B9E1-4B06-9605-1FECDE16136C}" presName="thinLine2b" presStyleLbl="callout" presStyleIdx="0" presStyleCnt="3"/>
      <dgm:spPr/>
    </dgm:pt>
    <dgm:pt modelId="{1FD5FD36-3F1F-4CB2-8C8E-A078857989F3}" type="pres">
      <dgm:prSet presAssocID="{A43E7DF6-B9E1-4B06-9605-1FECDE16136C}" presName="vertSpace2b" presStyleCnt="0"/>
      <dgm:spPr/>
    </dgm:pt>
    <dgm:pt modelId="{2F8E67A6-3E87-43C1-B5A7-1670B3C85B3C}" type="pres">
      <dgm:prSet presAssocID="{C4FEE3DE-6447-45C6-A4ED-17F1B94494F0}" presName="horz2" presStyleCnt="0"/>
      <dgm:spPr/>
    </dgm:pt>
    <dgm:pt modelId="{38EEBCF6-982D-491E-9B6E-30EA98192177}" type="pres">
      <dgm:prSet presAssocID="{C4FEE3DE-6447-45C6-A4ED-17F1B94494F0}" presName="horzSpace2" presStyleCnt="0"/>
      <dgm:spPr/>
    </dgm:pt>
    <dgm:pt modelId="{C57F8120-6221-4DB6-9D7A-EADC8E8F95F6}" type="pres">
      <dgm:prSet presAssocID="{C4FEE3DE-6447-45C6-A4ED-17F1B94494F0}" presName="tx2" presStyleLbl="revTx" presStyleIdx="2" presStyleCnt="4" custScaleX="114054" custScaleY="99609"/>
      <dgm:spPr/>
    </dgm:pt>
    <dgm:pt modelId="{CD5CFAC5-DF88-4415-BB00-B56E95FB490F}" type="pres">
      <dgm:prSet presAssocID="{C4FEE3DE-6447-45C6-A4ED-17F1B94494F0}" presName="vert2" presStyleCnt="0"/>
      <dgm:spPr/>
    </dgm:pt>
    <dgm:pt modelId="{B069A369-DB0D-4CBB-B9C7-3AC2AC5B900E}" type="pres">
      <dgm:prSet presAssocID="{C4FEE3DE-6447-45C6-A4ED-17F1B94494F0}" presName="thinLine2b" presStyleLbl="callout" presStyleIdx="1" presStyleCnt="3"/>
      <dgm:spPr/>
    </dgm:pt>
    <dgm:pt modelId="{97D33B91-E224-4D46-AC37-F995E391F417}" type="pres">
      <dgm:prSet presAssocID="{C4FEE3DE-6447-45C6-A4ED-17F1B94494F0}" presName="vertSpace2b" presStyleCnt="0"/>
      <dgm:spPr/>
    </dgm:pt>
    <dgm:pt modelId="{71891FBD-1A49-44C2-AAA0-D6F58CECD632}" type="pres">
      <dgm:prSet presAssocID="{0E8C26C3-1FD4-47BB-B56F-65961BE688CB}" presName="horz2" presStyleCnt="0"/>
      <dgm:spPr/>
    </dgm:pt>
    <dgm:pt modelId="{22230472-F1ED-4565-8FE8-F6C5E553A0F1}" type="pres">
      <dgm:prSet presAssocID="{0E8C26C3-1FD4-47BB-B56F-65961BE688CB}" presName="horzSpace2" presStyleCnt="0"/>
      <dgm:spPr/>
    </dgm:pt>
    <dgm:pt modelId="{DE0BE86F-4538-40FC-B74D-1112B8E08E00}" type="pres">
      <dgm:prSet presAssocID="{0E8C26C3-1FD4-47BB-B56F-65961BE688CB}" presName="tx2" presStyleLbl="revTx" presStyleIdx="3" presStyleCnt="4" custScaleX="112818" custScaleY="97728"/>
      <dgm:spPr/>
    </dgm:pt>
    <dgm:pt modelId="{B1AE4D60-9362-4066-96A1-E9BA23023CAE}" type="pres">
      <dgm:prSet presAssocID="{0E8C26C3-1FD4-47BB-B56F-65961BE688CB}" presName="vert2" presStyleCnt="0"/>
      <dgm:spPr/>
    </dgm:pt>
    <dgm:pt modelId="{F985E36B-AAD4-45F5-ADB9-842E5BCF81CF}" type="pres">
      <dgm:prSet presAssocID="{0E8C26C3-1FD4-47BB-B56F-65961BE688CB}" presName="thinLine2b" presStyleLbl="callout" presStyleIdx="2" presStyleCnt="3"/>
      <dgm:spPr/>
    </dgm:pt>
    <dgm:pt modelId="{014F9307-C5EB-410E-A647-AFEA25D4755D}" type="pres">
      <dgm:prSet presAssocID="{0E8C26C3-1FD4-47BB-B56F-65961BE688CB}" presName="vertSpace2b" presStyleCnt="0"/>
      <dgm:spPr/>
    </dgm:pt>
  </dgm:ptLst>
  <dgm:cxnLst>
    <dgm:cxn modelId="{CB931921-A067-4AE2-912E-CB3747AC328B}" type="presOf" srcId="{0E8C26C3-1FD4-47BB-B56F-65961BE688CB}" destId="{DE0BE86F-4538-40FC-B74D-1112B8E08E00}" srcOrd="0" destOrd="0" presId="urn:microsoft.com/office/officeart/2008/layout/LinedList"/>
    <dgm:cxn modelId="{97E4F621-7950-42FC-88EA-99B92CC09B0D}" type="presOf" srcId="{D00DEE5B-6560-48DF-AABC-D76109A75EA6}" destId="{732E6DB0-3D8A-46D1-9A2A-E517F9CD9CF7}" srcOrd="0" destOrd="0" presId="urn:microsoft.com/office/officeart/2008/layout/LinedList"/>
    <dgm:cxn modelId="{3D4F0263-2442-4594-8147-7889813F641E}" type="presOf" srcId="{C4FEE3DE-6447-45C6-A4ED-17F1B94494F0}" destId="{C57F8120-6221-4DB6-9D7A-EADC8E8F95F6}" srcOrd="0" destOrd="0" presId="urn:microsoft.com/office/officeart/2008/layout/LinedList"/>
    <dgm:cxn modelId="{B45E356C-C859-413D-8A47-58DA0F072525}" srcId="{D00DEE5B-6560-48DF-AABC-D76109A75EA6}" destId="{C4FEE3DE-6447-45C6-A4ED-17F1B94494F0}" srcOrd="1" destOrd="0" parTransId="{71D022B2-1526-4839-88EE-299F10661370}" sibTransId="{736BDCB1-0076-4768-8B95-711906D1D7DE}"/>
    <dgm:cxn modelId="{853A48A3-9A98-4D48-814F-F76498726235}" type="presOf" srcId="{F42E324A-B412-42D3-BCD2-45ED32F4E0CC}" destId="{214BA4D7-CB68-4337-899C-DE150B221413}" srcOrd="0" destOrd="0" presId="urn:microsoft.com/office/officeart/2008/layout/LinedList"/>
    <dgm:cxn modelId="{B607F7BF-CE7F-4DA1-A392-64DEEFAE41A6}" srcId="{D00DEE5B-6560-48DF-AABC-D76109A75EA6}" destId="{A43E7DF6-B9E1-4B06-9605-1FECDE16136C}" srcOrd="0" destOrd="0" parTransId="{A30A160A-5091-4BCE-A6EB-0C3BB10455E1}" sibTransId="{44995AC7-EEE3-4C1B-A904-CF8C85D861C7}"/>
    <dgm:cxn modelId="{61EA26D3-33DD-4A77-9E9D-BB44E21CBBF9}" srcId="{D00DEE5B-6560-48DF-AABC-D76109A75EA6}" destId="{0E8C26C3-1FD4-47BB-B56F-65961BE688CB}" srcOrd="2" destOrd="0" parTransId="{D0EBF19C-08EF-40AC-94CD-B3396167DA8B}" sibTransId="{23AE6AA2-5EF2-4826-8D93-5AA6C0A74218}"/>
    <dgm:cxn modelId="{0365D1E1-F397-48A6-B9E2-5E5552D2FDCE}" type="presOf" srcId="{A43E7DF6-B9E1-4B06-9605-1FECDE16136C}" destId="{89583649-C6DE-4C84-8CA3-F0A3351D96A2}" srcOrd="0" destOrd="0" presId="urn:microsoft.com/office/officeart/2008/layout/LinedList"/>
    <dgm:cxn modelId="{8BB4D1EF-08EB-4B15-9B2E-FD7D0BA72E28}" srcId="{F42E324A-B412-42D3-BCD2-45ED32F4E0CC}" destId="{D00DEE5B-6560-48DF-AABC-D76109A75EA6}" srcOrd="0" destOrd="0" parTransId="{F626A4CE-E6A0-4A79-A6B9-EC540D967B4C}" sibTransId="{19964389-809A-47F7-B506-E9DC19B5B3A2}"/>
    <dgm:cxn modelId="{9388F948-E24C-4B42-ADFC-6127D9EA9509}" type="presParOf" srcId="{214BA4D7-CB68-4337-899C-DE150B221413}" destId="{87597F87-D8C6-4BA7-884F-54B4C21A3667}" srcOrd="0" destOrd="0" presId="urn:microsoft.com/office/officeart/2008/layout/LinedList"/>
    <dgm:cxn modelId="{0083062B-1989-415E-8EA1-28C4242DC7BF}" type="presParOf" srcId="{214BA4D7-CB68-4337-899C-DE150B221413}" destId="{6ED0D358-DBF1-4BB2-81F5-8FA3D22367A1}" srcOrd="1" destOrd="0" presId="urn:microsoft.com/office/officeart/2008/layout/LinedList"/>
    <dgm:cxn modelId="{B2C84C94-267A-4A23-B215-006F33FF3AC6}" type="presParOf" srcId="{6ED0D358-DBF1-4BB2-81F5-8FA3D22367A1}" destId="{732E6DB0-3D8A-46D1-9A2A-E517F9CD9CF7}" srcOrd="0" destOrd="0" presId="urn:microsoft.com/office/officeart/2008/layout/LinedList"/>
    <dgm:cxn modelId="{D23CD253-3EFC-4B62-85C7-D1F2776CDE0B}" type="presParOf" srcId="{6ED0D358-DBF1-4BB2-81F5-8FA3D22367A1}" destId="{4E0D9349-E2EC-40B8-ACDC-A36EB9A7A4B5}" srcOrd="1" destOrd="0" presId="urn:microsoft.com/office/officeart/2008/layout/LinedList"/>
    <dgm:cxn modelId="{14987ACC-0BF4-42B7-B37C-1DC78DA8E7D8}" type="presParOf" srcId="{4E0D9349-E2EC-40B8-ACDC-A36EB9A7A4B5}" destId="{BFBBA441-D657-476B-A1B3-F30C04190AA0}" srcOrd="0" destOrd="0" presId="urn:microsoft.com/office/officeart/2008/layout/LinedList"/>
    <dgm:cxn modelId="{DF3CDB2A-9607-4A5B-95EE-277BBA6151DF}" type="presParOf" srcId="{4E0D9349-E2EC-40B8-ACDC-A36EB9A7A4B5}" destId="{3178C31E-F1D5-4961-B006-2E582C6E8847}" srcOrd="1" destOrd="0" presId="urn:microsoft.com/office/officeart/2008/layout/LinedList"/>
    <dgm:cxn modelId="{64E77902-E9C4-45A3-91C3-266D0353BB39}" type="presParOf" srcId="{3178C31E-F1D5-4961-B006-2E582C6E8847}" destId="{C5CF8303-753A-44A6-9900-F572A647D87D}" srcOrd="0" destOrd="0" presId="urn:microsoft.com/office/officeart/2008/layout/LinedList"/>
    <dgm:cxn modelId="{DCFF80E8-A647-44FE-B831-4CA05238BB49}" type="presParOf" srcId="{3178C31E-F1D5-4961-B006-2E582C6E8847}" destId="{89583649-C6DE-4C84-8CA3-F0A3351D96A2}" srcOrd="1" destOrd="0" presId="urn:microsoft.com/office/officeart/2008/layout/LinedList"/>
    <dgm:cxn modelId="{3CB86B41-1744-405E-BEF9-1D07DA106FBE}" type="presParOf" srcId="{3178C31E-F1D5-4961-B006-2E582C6E8847}" destId="{6C038F3C-60EC-4E70-8458-169D8D770E32}" srcOrd="2" destOrd="0" presId="urn:microsoft.com/office/officeart/2008/layout/LinedList"/>
    <dgm:cxn modelId="{E545C14B-5A9C-47D0-BC14-FC0D2C6BEECC}" type="presParOf" srcId="{4E0D9349-E2EC-40B8-ACDC-A36EB9A7A4B5}" destId="{2E7649CA-7EC9-46CB-A4F0-C48371699E46}" srcOrd="2" destOrd="0" presId="urn:microsoft.com/office/officeart/2008/layout/LinedList"/>
    <dgm:cxn modelId="{1C66B125-AD8F-4657-A3D6-AC5FA97B13F0}" type="presParOf" srcId="{4E0D9349-E2EC-40B8-ACDC-A36EB9A7A4B5}" destId="{1FD5FD36-3F1F-4CB2-8C8E-A078857989F3}" srcOrd="3" destOrd="0" presId="urn:microsoft.com/office/officeart/2008/layout/LinedList"/>
    <dgm:cxn modelId="{962223A3-E76B-45F9-BFDA-1EF2C85E93CB}" type="presParOf" srcId="{4E0D9349-E2EC-40B8-ACDC-A36EB9A7A4B5}" destId="{2F8E67A6-3E87-43C1-B5A7-1670B3C85B3C}" srcOrd="4" destOrd="0" presId="urn:microsoft.com/office/officeart/2008/layout/LinedList"/>
    <dgm:cxn modelId="{26F066A1-36DB-4164-B8B0-379CA29FB16F}" type="presParOf" srcId="{2F8E67A6-3E87-43C1-B5A7-1670B3C85B3C}" destId="{38EEBCF6-982D-491E-9B6E-30EA98192177}" srcOrd="0" destOrd="0" presId="urn:microsoft.com/office/officeart/2008/layout/LinedList"/>
    <dgm:cxn modelId="{85858631-82ED-4F96-9FFD-2968586B95CE}" type="presParOf" srcId="{2F8E67A6-3E87-43C1-B5A7-1670B3C85B3C}" destId="{C57F8120-6221-4DB6-9D7A-EADC8E8F95F6}" srcOrd="1" destOrd="0" presId="urn:microsoft.com/office/officeart/2008/layout/LinedList"/>
    <dgm:cxn modelId="{783E37C5-519B-4080-9A68-38DBF47D5864}" type="presParOf" srcId="{2F8E67A6-3E87-43C1-B5A7-1670B3C85B3C}" destId="{CD5CFAC5-DF88-4415-BB00-B56E95FB490F}" srcOrd="2" destOrd="0" presId="urn:microsoft.com/office/officeart/2008/layout/LinedList"/>
    <dgm:cxn modelId="{240CB8DB-6E3A-477D-AAF7-439E40DE95ED}" type="presParOf" srcId="{4E0D9349-E2EC-40B8-ACDC-A36EB9A7A4B5}" destId="{B069A369-DB0D-4CBB-B9C7-3AC2AC5B900E}" srcOrd="5" destOrd="0" presId="urn:microsoft.com/office/officeart/2008/layout/LinedList"/>
    <dgm:cxn modelId="{28A07B14-6634-4201-BF8E-6F570DE8BD11}" type="presParOf" srcId="{4E0D9349-E2EC-40B8-ACDC-A36EB9A7A4B5}" destId="{97D33B91-E224-4D46-AC37-F995E391F417}" srcOrd="6" destOrd="0" presId="urn:microsoft.com/office/officeart/2008/layout/LinedList"/>
    <dgm:cxn modelId="{AE1DD42F-F84C-4006-A0E9-B8AB8A2D716C}" type="presParOf" srcId="{4E0D9349-E2EC-40B8-ACDC-A36EB9A7A4B5}" destId="{71891FBD-1A49-44C2-AAA0-D6F58CECD632}" srcOrd="7" destOrd="0" presId="urn:microsoft.com/office/officeart/2008/layout/LinedList"/>
    <dgm:cxn modelId="{3304CE59-4376-4E4C-ADA9-6FD40B74599E}" type="presParOf" srcId="{71891FBD-1A49-44C2-AAA0-D6F58CECD632}" destId="{22230472-F1ED-4565-8FE8-F6C5E553A0F1}" srcOrd="0" destOrd="0" presId="urn:microsoft.com/office/officeart/2008/layout/LinedList"/>
    <dgm:cxn modelId="{AF642C8F-E858-4BC1-B983-E7FAFCC7384A}" type="presParOf" srcId="{71891FBD-1A49-44C2-AAA0-D6F58CECD632}" destId="{DE0BE86F-4538-40FC-B74D-1112B8E08E00}" srcOrd="1" destOrd="0" presId="urn:microsoft.com/office/officeart/2008/layout/LinedList"/>
    <dgm:cxn modelId="{7A745A9B-5BCA-48F5-BF6A-3587D2F226F0}" type="presParOf" srcId="{71891FBD-1A49-44C2-AAA0-D6F58CECD632}" destId="{B1AE4D60-9362-4066-96A1-E9BA23023CAE}" srcOrd="2" destOrd="0" presId="urn:microsoft.com/office/officeart/2008/layout/LinedList"/>
    <dgm:cxn modelId="{D7D6D1C1-2F14-4C29-A354-7404A918C098}" type="presParOf" srcId="{4E0D9349-E2EC-40B8-ACDC-A36EB9A7A4B5}" destId="{F985E36B-AAD4-45F5-ADB9-842E5BCF81CF}" srcOrd="8" destOrd="0" presId="urn:microsoft.com/office/officeart/2008/layout/LinedList"/>
    <dgm:cxn modelId="{A7E1FE55-1AC4-44C1-ABC2-4D590CADB9C8}" type="presParOf" srcId="{4E0D9349-E2EC-40B8-ACDC-A36EB9A7A4B5}" destId="{014F9307-C5EB-410E-A647-AFEA25D4755D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2E324A-B412-42D3-BCD2-45ED32F4E0C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00DEE5B-6560-48DF-AABC-D76109A75EA6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核心挑战</a:t>
          </a:r>
        </a:p>
      </dgm:t>
    </dgm:pt>
    <dgm:pt modelId="{F626A4CE-E6A0-4A79-A6B9-EC540D967B4C}" type="parTrans" cxnId="{8BB4D1EF-08EB-4B15-9B2E-FD7D0BA72E28}">
      <dgm:prSet/>
      <dgm:spPr/>
      <dgm:t>
        <a:bodyPr/>
        <a:lstStyle/>
        <a:p>
          <a:endParaRPr lang="zh-CN" altLang="en-US"/>
        </a:p>
      </dgm:t>
    </dgm:pt>
    <dgm:pt modelId="{19964389-809A-47F7-B506-E9DC19B5B3A2}" type="sibTrans" cxnId="{8BB4D1EF-08EB-4B15-9B2E-FD7D0BA72E28}">
      <dgm:prSet/>
      <dgm:spPr/>
      <dgm:t>
        <a:bodyPr/>
        <a:lstStyle/>
        <a:p>
          <a:endParaRPr lang="zh-CN" altLang="en-US"/>
        </a:p>
      </dgm:t>
    </dgm:pt>
    <dgm:pt modelId="{A43E7DF6-B9E1-4B06-9605-1FECDE16136C}">
      <dgm:prSet phldrT="[文本]" custT="1"/>
      <dgm:spPr/>
      <dgm:t>
        <a:bodyPr/>
        <a:lstStyle/>
        <a:p>
          <a:r>
            <a:rPr lang="zh-CN" altLang="en-US" sz="1400" dirty="0"/>
            <a:t>振幅消光比限制： 物理遮挡区的透过率无法绝对清零，产生的零级背景噪声会降低焦点处的信噪比 </a:t>
          </a:r>
          <a:r>
            <a:rPr lang="en-US" altLang="zh-CN" sz="1400" dirty="0"/>
            <a:t>(SNR)</a:t>
          </a:r>
          <a:r>
            <a:rPr lang="zh-CN" altLang="en-US" sz="1400" dirty="0"/>
            <a:t>。</a:t>
          </a:r>
        </a:p>
      </dgm:t>
    </dgm:pt>
    <dgm:pt modelId="{A30A160A-5091-4BCE-A6EB-0C3BB10455E1}" type="parTrans" cxnId="{B607F7BF-CE7F-4DA1-A392-64DEEFAE41A6}">
      <dgm:prSet/>
      <dgm:spPr/>
      <dgm:t>
        <a:bodyPr/>
        <a:lstStyle/>
        <a:p>
          <a:endParaRPr lang="zh-CN" altLang="en-US"/>
        </a:p>
      </dgm:t>
    </dgm:pt>
    <dgm:pt modelId="{44995AC7-EEE3-4C1B-A904-CF8C85D861C7}" type="sibTrans" cxnId="{B607F7BF-CE7F-4DA1-A392-64DEEFAE41A6}">
      <dgm:prSet/>
      <dgm:spPr/>
      <dgm:t>
        <a:bodyPr/>
        <a:lstStyle/>
        <a:p>
          <a:endParaRPr lang="zh-CN" altLang="en-US"/>
        </a:p>
      </dgm:t>
    </dgm:pt>
    <dgm:pt modelId="{C4FEE3DE-6447-45C6-A4ED-17F1B94494F0}">
      <dgm:prSet phldrT="[文本]" custT="1"/>
      <dgm:spPr/>
      <dgm:t>
        <a:bodyPr/>
        <a:lstStyle/>
        <a:p>
          <a:r>
            <a:rPr lang="zh-CN" altLang="en-US" sz="1400" dirty="0"/>
            <a:t>空间采样误差： 数字化制备中的离散点阵会导致边缘呈现微观阶梯状，引入高级次衍射分量。</a:t>
          </a:r>
        </a:p>
      </dgm:t>
    </dgm:pt>
    <dgm:pt modelId="{71D022B2-1526-4839-88EE-299F10661370}" type="parTrans" cxnId="{B45E356C-C859-413D-8A47-58DA0F072525}">
      <dgm:prSet/>
      <dgm:spPr/>
      <dgm:t>
        <a:bodyPr/>
        <a:lstStyle/>
        <a:p>
          <a:endParaRPr lang="zh-CN" altLang="en-US"/>
        </a:p>
      </dgm:t>
    </dgm:pt>
    <dgm:pt modelId="{736BDCB1-0076-4768-8B95-711906D1D7DE}" type="sibTrans" cxnId="{B45E356C-C859-413D-8A47-58DA0F072525}">
      <dgm:prSet/>
      <dgm:spPr/>
      <dgm:t>
        <a:bodyPr/>
        <a:lstStyle/>
        <a:p>
          <a:endParaRPr lang="zh-CN" altLang="en-US"/>
        </a:p>
      </dgm:t>
    </dgm:pt>
    <dgm:pt modelId="{0E8C26C3-1FD4-47BB-B56F-65961BE688CB}">
      <dgm:prSet phldrT="[文本]" custT="1"/>
      <dgm:spPr>
        <a:blipFill>
          <a:blip xmlns:r="http://schemas.openxmlformats.org/officeDocument/2006/relationships" r:embed="rId1"/>
          <a:stretch>
            <a:fillRect l="-2293" t="-7767" b="-23301"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D0EBF19C-08EF-40AC-94CD-B3396167DA8B}" type="parTrans" cxnId="{61EA26D3-33DD-4A77-9E9D-BB44E21CBBF9}">
      <dgm:prSet/>
      <dgm:spPr/>
      <dgm:t>
        <a:bodyPr/>
        <a:lstStyle/>
        <a:p>
          <a:endParaRPr lang="zh-CN" altLang="en-US"/>
        </a:p>
      </dgm:t>
    </dgm:pt>
    <dgm:pt modelId="{23AE6AA2-5EF2-4826-8D93-5AA6C0A74218}" type="sibTrans" cxnId="{61EA26D3-33DD-4A77-9E9D-BB44E21CBBF9}">
      <dgm:prSet/>
      <dgm:spPr/>
      <dgm:t>
        <a:bodyPr/>
        <a:lstStyle/>
        <a:p>
          <a:endParaRPr lang="zh-CN" altLang="en-US"/>
        </a:p>
      </dgm:t>
    </dgm:pt>
    <dgm:pt modelId="{214BA4D7-CB68-4337-899C-DE150B221413}" type="pres">
      <dgm:prSet presAssocID="{F42E324A-B412-42D3-BCD2-45ED32F4E0CC}" presName="vert0" presStyleCnt="0">
        <dgm:presLayoutVars>
          <dgm:dir/>
          <dgm:animOne val="branch"/>
          <dgm:animLvl val="lvl"/>
        </dgm:presLayoutVars>
      </dgm:prSet>
      <dgm:spPr/>
    </dgm:pt>
    <dgm:pt modelId="{87597F87-D8C6-4BA7-884F-54B4C21A3667}" type="pres">
      <dgm:prSet presAssocID="{D00DEE5B-6560-48DF-AABC-D76109A75EA6}" presName="thickLine" presStyleLbl="alignNode1" presStyleIdx="0" presStyleCnt="1"/>
      <dgm:spPr/>
    </dgm:pt>
    <dgm:pt modelId="{6ED0D358-DBF1-4BB2-81F5-8FA3D22367A1}" type="pres">
      <dgm:prSet presAssocID="{D00DEE5B-6560-48DF-AABC-D76109A75EA6}" presName="horz1" presStyleCnt="0"/>
      <dgm:spPr/>
    </dgm:pt>
    <dgm:pt modelId="{732E6DB0-3D8A-46D1-9A2A-E517F9CD9CF7}" type="pres">
      <dgm:prSet presAssocID="{D00DEE5B-6560-48DF-AABC-D76109A75EA6}" presName="tx1" presStyleLbl="revTx" presStyleIdx="0" presStyleCnt="4" custScaleX="41678" custScaleY="64521" custLinFactNeighborX="546" custLinFactNeighborY="14056"/>
      <dgm:spPr/>
    </dgm:pt>
    <dgm:pt modelId="{4E0D9349-E2EC-40B8-ACDC-A36EB9A7A4B5}" type="pres">
      <dgm:prSet presAssocID="{D00DEE5B-6560-48DF-AABC-D76109A75EA6}" presName="vert1" presStyleCnt="0"/>
      <dgm:spPr/>
    </dgm:pt>
    <dgm:pt modelId="{BFBBA441-D657-476B-A1B3-F30C04190AA0}" type="pres">
      <dgm:prSet presAssocID="{A43E7DF6-B9E1-4B06-9605-1FECDE16136C}" presName="vertSpace2a" presStyleCnt="0"/>
      <dgm:spPr/>
    </dgm:pt>
    <dgm:pt modelId="{3178C31E-F1D5-4961-B006-2E582C6E8847}" type="pres">
      <dgm:prSet presAssocID="{A43E7DF6-B9E1-4B06-9605-1FECDE16136C}" presName="horz2" presStyleCnt="0"/>
      <dgm:spPr/>
    </dgm:pt>
    <dgm:pt modelId="{C5CF8303-753A-44A6-9900-F572A647D87D}" type="pres">
      <dgm:prSet presAssocID="{A43E7DF6-B9E1-4B06-9605-1FECDE16136C}" presName="horzSpace2" presStyleCnt="0"/>
      <dgm:spPr/>
    </dgm:pt>
    <dgm:pt modelId="{89583649-C6DE-4C84-8CA3-F0A3351D96A2}" type="pres">
      <dgm:prSet presAssocID="{A43E7DF6-B9E1-4B06-9605-1FECDE16136C}" presName="tx2" presStyleLbl="revTx" presStyleIdx="1" presStyleCnt="4" custScaleX="110757" custScaleY="102340"/>
      <dgm:spPr/>
    </dgm:pt>
    <dgm:pt modelId="{6C038F3C-60EC-4E70-8458-169D8D770E32}" type="pres">
      <dgm:prSet presAssocID="{A43E7DF6-B9E1-4B06-9605-1FECDE16136C}" presName="vert2" presStyleCnt="0"/>
      <dgm:spPr/>
    </dgm:pt>
    <dgm:pt modelId="{2E7649CA-7EC9-46CB-A4F0-C48371699E46}" type="pres">
      <dgm:prSet presAssocID="{A43E7DF6-B9E1-4B06-9605-1FECDE16136C}" presName="thinLine2b" presStyleLbl="callout" presStyleIdx="0" presStyleCnt="3"/>
      <dgm:spPr/>
    </dgm:pt>
    <dgm:pt modelId="{1FD5FD36-3F1F-4CB2-8C8E-A078857989F3}" type="pres">
      <dgm:prSet presAssocID="{A43E7DF6-B9E1-4B06-9605-1FECDE16136C}" presName="vertSpace2b" presStyleCnt="0"/>
      <dgm:spPr/>
    </dgm:pt>
    <dgm:pt modelId="{2F8E67A6-3E87-43C1-B5A7-1670B3C85B3C}" type="pres">
      <dgm:prSet presAssocID="{C4FEE3DE-6447-45C6-A4ED-17F1B94494F0}" presName="horz2" presStyleCnt="0"/>
      <dgm:spPr/>
    </dgm:pt>
    <dgm:pt modelId="{38EEBCF6-982D-491E-9B6E-30EA98192177}" type="pres">
      <dgm:prSet presAssocID="{C4FEE3DE-6447-45C6-A4ED-17F1B94494F0}" presName="horzSpace2" presStyleCnt="0"/>
      <dgm:spPr/>
    </dgm:pt>
    <dgm:pt modelId="{C57F8120-6221-4DB6-9D7A-EADC8E8F95F6}" type="pres">
      <dgm:prSet presAssocID="{C4FEE3DE-6447-45C6-A4ED-17F1B94494F0}" presName="tx2" presStyleLbl="revTx" presStyleIdx="2" presStyleCnt="4" custScaleX="114054" custScaleY="99609"/>
      <dgm:spPr/>
    </dgm:pt>
    <dgm:pt modelId="{CD5CFAC5-DF88-4415-BB00-B56E95FB490F}" type="pres">
      <dgm:prSet presAssocID="{C4FEE3DE-6447-45C6-A4ED-17F1B94494F0}" presName="vert2" presStyleCnt="0"/>
      <dgm:spPr/>
    </dgm:pt>
    <dgm:pt modelId="{B069A369-DB0D-4CBB-B9C7-3AC2AC5B900E}" type="pres">
      <dgm:prSet presAssocID="{C4FEE3DE-6447-45C6-A4ED-17F1B94494F0}" presName="thinLine2b" presStyleLbl="callout" presStyleIdx="1" presStyleCnt="3"/>
      <dgm:spPr/>
    </dgm:pt>
    <dgm:pt modelId="{97D33B91-E224-4D46-AC37-F995E391F417}" type="pres">
      <dgm:prSet presAssocID="{C4FEE3DE-6447-45C6-A4ED-17F1B94494F0}" presName="vertSpace2b" presStyleCnt="0"/>
      <dgm:spPr/>
    </dgm:pt>
    <dgm:pt modelId="{71891FBD-1A49-44C2-AAA0-D6F58CECD632}" type="pres">
      <dgm:prSet presAssocID="{0E8C26C3-1FD4-47BB-B56F-65961BE688CB}" presName="horz2" presStyleCnt="0"/>
      <dgm:spPr/>
    </dgm:pt>
    <dgm:pt modelId="{22230472-F1ED-4565-8FE8-F6C5E553A0F1}" type="pres">
      <dgm:prSet presAssocID="{0E8C26C3-1FD4-47BB-B56F-65961BE688CB}" presName="horzSpace2" presStyleCnt="0"/>
      <dgm:spPr/>
    </dgm:pt>
    <dgm:pt modelId="{DE0BE86F-4538-40FC-B74D-1112B8E08E00}" type="pres">
      <dgm:prSet presAssocID="{0E8C26C3-1FD4-47BB-B56F-65961BE688CB}" presName="tx2" presStyleLbl="revTx" presStyleIdx="3" presStyleCnt="4" custScaleX="112818" custScaleY="97728"/>
      <dgm:spPr/>
    </dgm:pt>
    <dgm:pt modelId="{B1AE4D60-9362-4066-96A1-E9BA23023CAE}" type="pres">
      <dgm:prSet presAssocID="{0E8C26C3-1FD4-47BB-B56F-65961BE688CB}" presName="vert2" presStyleCnt="0"/>
      <dgm:spPr/>
    </dgm:pt>
    <dgm:pt modelId="{F985E36B-AAD4-45F5-ADB9-842E5BCF81CF}" type="pres">
      <dgm:prSet presAssocID="{0E8C26C3-1FD4-47BB-B56F-65961BE688CB}" presName="thinLine2b" presStyleLbl="callout" presStyleIdx="2" presStyleCnt="3"/>
      <dgm:spPr/>
    </dgm:pt>
    <dgm:pt modelId="{014F9307-C5EB-410E-A647-AFEA25D4755D}" type="pres">
      <dgm:prSet presAssocID="{0E8C26C3-1FD4-47BB-B56F-65961BE688CB}" presName="vertSpace2b" presStyleCnt="0"/>
      <dgm:spPr/>
    </dgm:pt>
  </dgm:ptLst>
  <dgm:cxnLst>
    <dgm:cxn modelId="{CB931921-A067-4AE2-912E-CB3747AC328B}" type="presOf" srcId="{0E8C26C3-1FD4-47BB-B56F-65961BE688CB}" destId="{DE0BE86F-4538-40FC-B74D-1112B8E08E00}" srcOrd="0" destOrd="0" presId="urn:microsoft.com/office/officeart/2008/layout/LinedList"/>
    <dgm:cxn modelId="{97E4F621-7950-42FC-88EA-99B92CC09B0D}" type="presOf" srcId="{D00DEE5B-6560-48DF-AABC-D76109A75EA6}" destId="{732E6DB0-3D8A-46D1-9A2A-E517F9CD9CF7}" srcOrd="0" destOrd="0" presId="urn:microsoft.com/office/officeart/2008/layout/LinedList"/>
    <dgm:cxn modelId="{3D4F0263-2442-4594-8147-7889813F641E}" type="presOf" srcId="{C4FEE3DE-6447-45C6-A4ED-17F1B94494F0}" destId="{C57F8120-6221-4DB6-9D7A-EADC8E8F95F6}" srcOrd="0" destOrd="0" presId="urn:microsoft.com/office/officeart/2008/layout/LinedList"/>
    <dgm:cxn modelId="{B45E356C-C859-413D-8A47-58DA0F072525}" srcId="{D00DEE5B-6560-48DF-AABC-D76109A75EA6}" destId="{C4FEE3DE-6447-45C6-A4ED-17F1B94494F0}" srcOrd="1" destOrd="0" parTransId="{71D022B2-1526-4839-88EE-299F10661370}" sibTransId="{736BDCB1-0076-4768-8B95-711906D1D7DE}"/>
    <dgm:cxn modelId="{853A48A3-9A98-4D48-814F-F76498726235}" type="presOf" srcId="{F42E324A-B412-42D3-BCD2-45ED32F4E0CC}" destId="{214BA4D7-CB68-4337-899C-DE150B221413}" srcOrd="0" destOrd="0" presId="urn:microsoft.com/office/officeart/2008/layout/LinedList"/>
    <dgm:cxn modelId="{B607F7BF-CE7F-4DA1-A392-64DEEFAE41A6}" srcId="{D00DEE5B-6560-48DF-AABC-D76109A75EA6}" destId="{A43E7DF6-B9E1-4B06-9605-1FECDE16136C}" srcOrd="0" destOrd="0" parTransId="{A30A160A-5091-4BCE-A6EB-0C3BB10455E1}" sibTransId="{44995AC7-EEE3-4C1B-A904-CF8C85D861C7}"/>
    <dgm:cxn modelId="{61EA26D3-33DD-4A77-9E9D-BB44E21CBBF9}" srcId="{D00DEE5B-6560-48DF-AABC-D76109A75EA6}" destId="{0E8C26C3-1FD4-47BB-B56F-65961BE688CB}" srcOrd="2" destOrd="0" parTransId="{D0EBF19C-08EF-40AC-94CD-B3396167DA8B}" sibTransId="{23AE6AA2-5EF2-4826-8D93-5AA6C0A74218}"/>
    <dgm:cxn modelId="{0365D1E1-F397-48A6-B9E2-5E5552D2FDCE}" type="presOf" srcId="{A43E7DF6-B9E1-4B06-9605-1FECDE16136C}" destId="{89583649-C6DE-4C84-8CA3-F0A3351D96A2}" srcOrd="0" destOrd="0" presId="urn:microsoft.com/office/officeart/2008/layout/LinedList"/>
    <dgm:cxn modelId="{8BB4D1EF-08EB-4B15-9B2E-FD7D0BA72E28}" srcId="{F42E324A-B412-42D3-BCD2-45ED32F4E0CC}" destId="{D00DEE5B-6560-48DF-AABC-D76109A75EA6}" srcOrd="0" destOrd="0" parTransId="{F626A4CE-E6A0-4A79-A6B9-EC540D967B4C}" sibTransId="{19964389-809A-47F7-B506-E9DC19B5B3A2}"/>
    <dgm:cxn modelId="{9388F948-E24C-4B42-ADFC-6127D9EA9509}" type="presParOf" srcId="{214BA4D7-CB68-4337-899C-DE150B221413}" destId="{87597F87-D8C6-4BA7-884F-54B4C21A3667}" srcOrd="0" destOrd="0" presId="urn:microsoft.com/office/officeart/2008/layout/LinedList"/>
    <dgm:cxn modelId="{0083062B-1989-415E-8EA1-28C4242DC7BF}" type="presParOf" srcId="{214BA4D7-CB68-4337-899C-DE150B221413}" destId="{6ED0D358-DBF1-4BB2-81F5-8FA3D22367A1}" srcOrd="1" destOrd="0" presId="urn:microsoft.com/office/officeart/2008/layout/LinedList"/>
    <dgm:cxn modelId="{B2C84C94-267A-4A23-B215-006F33FF3AC6}" type="presParOf" srcId="{6ED0D358-DBF1-4BB2-81F5-8FA3D22367A1}" destId="{732E6DB0-3D8A-46D1-9A2A-E517F9CD9CF7}" srcOrd="0" destOrd="0" presId="urn:microsoft.com/office/officeart/2008/layout/LinedList"/>
    <dgm:cxn modelId="{D23CD253-3EFC-4B62-85C7-D1F2776CDE0B}" type="presParOf" srcId="{6ED0D358-DBF1-4BB2-81F5-8FA3D22367A1}" destId="{4E0D9349-E2EC-40B8-ACDC-A36EB9A7A4B5}" srcOrd="1" destOrd="0" presId="urn:microsoft.com/office/officeart/2008/layout/LinedList"/>
    <dgm:cxn modelId="{14987ACC-0BF4-42B7-B37C-1DC78DA8E7D8}" type="presParOf" srcId="{4E0D9349-E2EC-40B8-ACDC-A36EB9A7A4B5}" destId="{BFBBA441-D657-476B-A1B3-F30C04190AA0}" srcOrd="0" destOrd="0" presId="urn:microsoft.com/office/officeart/2008/layout/LinedList"/>
    <dgm:cxn modelId="{DF3CDB2A-9607-4A5B-95EE-277BBA6151DF}" type="presParOf" srcId="{4E0D9349-E2EC-40B8-ACDC-A36EB9A7A4B5}" destId="{3178C31E-F1D5-4961-B006-2E582C6E8847}" srcOrd="1" destOrd="0" presId="urn:microsoft.com/office/officeart/2008/layout/LinedList"/>
    <dgm:cxn modelId="{64E77902-E9C4-45A3-91C3-266D0353BB39}" type="presParOf" srcId="{3178C31E-F1D5-4961-B006-2E582C6E8847}" destId="{C5CF8303-753A-44A6-9900-F572A647D87D}" srcOrd="0" destOrd="0" presId="urn:microsoft.com/office/officeart/2008/layout/LinedList"/>
    <dgm:cxn modelId="{DCFF80E8-A647-44FE-B831-4CA05238BB49}" type="presParOf" srcId="{3178C31E-F1D5-4961-B006-2E582C6E8847}" destId="{89583649-C6DE-4C84-8CA3-F0A3351D96A2}" srcOrd="1" destOrd="0" presId="urn:microsoft.com/office/officeart/2008/layout/LinedList"/>
    <dgm:cxn modelId="{3CB86B41-1744-405E-BEF9-1D07DA106FBE}" type="presParOf" srcId="{3178C31E-F1D5-4961-B006-2E582C6E8847}" destId="{6C038F3C-60EC-4E70-8458-169D8D770E32}" srcOrd="2" destOrd="0" presId="urn:microsoft.com/office/officeart/2008/layout/LinedList"/>
    <dgm:cxn modelId="{E545C14B-5A9C-47D0-BC14-FC0D2C6BEECC}" type="presParOf" srcId="{4E0D9349-E2EC-40B8-ACDC-A36EB9A7A4B5}" destId="{2E7649CA-7EC9-46CB-A4F0-C48371699E46}" srcOrd="2" destOrd="0" presId="urn:microsoft.com/office/officeart/2008/layout/LinedList"/>
    <dgm:cxn modelId="{1C66B125-AD8F-4657-A3D6-AC5FA97B13F0}" type="presParOf" srcId="{4E0D9349-E2EC-40B8-ACDC-A36EB9A7A4B5}" destId="{1FD5FD36-3F1F-4CB2-8C8E-A078857989F3}" srcOrd="3" destOrd="0" presId="urn:microsoft.com/office/officeart/2008/layout/LinedList"/>
    <dgm:cxn modelId="{962223A3-E76B-45F9-BFDA-1EF2C85E93CB}" type="presParOf" srcId="{4E0D9349-E2EC-40B8-ACDC-A36EB9A7A4B5}" destId="{2F8E67A6-3E87-43C1-B5A7-1670B3C85B3C}" srcOrd="4" destOrd="0" presId="urn:microsoft.com/office/officeart/2008/layout/LinedList"/>
    <dgm:cxn modelId="{26F066A1-36DB-4164-B8B0-379CA29FB16F}" type="presParOf" srcId="{2F8E67A6-3E87-43C1-B5A7-1670B3C85B3C}" destId="{38EEBCF6-982D-491E-9B6E-30EA98192177}" srcOrd="0" destOrd="0" presId="urn:microsoft.com/office/officeart/2008/layout/LinedList"/>
    <dgm:cxn modelId="{85858631-82ED-4F96-9FFD-2968586B95CE}" type="presParOf" srcId="{2F8E67A6-3E87-43C1-B5A7-1670B3C85B3C}" destId="{C57F8120-6221-4DB6-9D7A-EADC8E8F95F6}" srcOrd="1" destOrd="0" presId="urn:microsoft.com/office/officeart/2008/layout/LinedList"/>
    <dgm:cxn modelId="{783E37C5-519B-4080-9A68-38DBF47D5864}" type="presParOf" srcId="{2F8E67A6-3E87-43C1-B5A7-1670B3C85B3C}" destId="{CD5CFAC5-DF88-4415-BB00-B56E95FB490F}" srcOrd="2" destOrd="0" presId="urn:microsoft.com/office/officeart/2008/layout/LinedList"/>
    <dgm:cxn modelId="{240CB8DB-6E3A-477D-AAF7-439E40DE95ED}" type="presParOf" srcId="{4E0D9349-E2EC-40B8-ACDC-A36EB9A7A4B5}" destId="{B069A369-DB0D-4CBB-B9C7-3AC2AC5B900E}" srcOrd="5" destOrd="0" presId="urn:microsoft.com/office/officeart/2008/layout/LinedList"/>
    <dgm:cxn modelId="{28A07B14-6634-4201-BF8E-6F570DE8BD11}" type="presParOf" srcId="{4E0D9349-E2EC-40B8-ACDC-A36EB9A7A4B5}" destId="{97D33B91-E224-4D46-AC37-F995E391F417}" srcOrd="6" destOrd="0" presId="urn:microsoft.com/office/officeart/2008/layout/LinedList"/>
    <dgm:cxn modelId="{AE1DD42F-F84C-4006-A0E9-B8AB8A2D716C}" type="presParOf" srcId="{4E0D9349-E2EC-40B8-ACDC-A36EB9A7A4B5}" destId="{71891FBD-1A49-44C2-AAA0-D6F58CECD632}" srcOrd="7" destOrd="0" presId="urn:microsoft.com/office/officeart/2008/layout/LinedList"/>
    <dgm:cxn modelId="{3304CE59-4376-4E4C-ADA9-6FD40B74599E}" type="presParOf" srcId="{71891FBD-1A49-44C2-AAA0-D6F58CECD632}" destId="{22230472-F1ED-4565-8FE8-F6C5E553A0F1}" srcOrd="0" destOrd="0" presId="urn:microsoft.com/office/officeart/2008/layout/LinedList"/>
    <dgm:cxn modelId="{AF642C8F-E858-4BC1-B983-E7FAFCC7384A}" type="presParOf" srcId="{71891FBD-1A49-44C2-AAA0-D6F58CECD632}" destId="{DE0BE86F-4538-40FC-B74D-1112B8E08E00}" srcOrd="1" destOrd="0" presId="urn:microsoft.com/office/officeart/2008/layout/LinedList"/>
    <dgm:cxn modelId="{7A745A9B-5BCA-48F5-BF6A-3587D2F226F0}" type="presParOf" srcId="{71891FBD-1A49-44C2-AAA0-D6F58CECD632}" destId="{B1AE4D60-9362-4066-96A1-E9BA23023CAE}" srcOrd="2" destOrd="0" presId="urn:microsoft.com/office/officeart/2008/layout/LinedList"/>
    <dgm:cxn modelId="{D7D6D1C1-2F14-4C29-A354-7404A918C098}" type="presParOf" srcId="{4E0D9349-E2EC-40B8-ACDC-A36EB9A7A4B5}" destId="{F985E36B-AAD4-45F5-ADB9-842E5BCF81CF}" srcOrd="8" destOrd="0" presId="urn:microsoft.com/office/officeart/2008/layout/LinedList"/>
    <dgm:cxn modelId="{A7E1FE55-1AC4-44C1-ABC2-4D590CADB9C8}" type="presParOf" srcId="{4E0D9349-E2EC-40B8-ACDC-A36EB9A7A4B5}" destId="{014F9307-C5EB-410E-A647-AFEA25D4755D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AE42F9-2251-4272-9DBD-A411EC97E6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2A11111-113C-4F5B-AEBD-A06AD1FBF39C}">
      <dgm:prSet custT="1"/>
      <dgm:spPr/>
      <dgm:t>
        <a:bodyPr/>
        <a:lstStyle/>
        <a:p>
          <a:r>
            <a: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长焦距降噪设计。 通过增大设计焦距 𝑓 提升最小带宽，降低空间采样误差对波前的调控压力。</a:t>
          </a:r>
        </a:p>
      </dgm:t>
    </dgm:pt>
    <dgm:pt modelId="{E3FA2B04-1416-40A2-8E54-B4627F14C831}" type="parTrans" cxnId="{022A47B6-B419-4C3E-B774-066E6D5D5B5B}">
      <dgm:prSet/>
      <dgm:spPr/>
      <dgm:t>
        <a:bodyPr/>
        <a:lstStyle/>
        <a:p>
          <a:endParaRPr lang="zh-CN" altLang="en-US"/>
        </a:p>
      </dgm:t>
    </dgm:pt>
    <dgm:pt modelId="{5576C4E2-51ED-40EF-B33A-E264F65406F6}" type="sibTrans" cxnId="{022A47B6-B419-4C3E-B774-066E6D5D5B5B}">
      <dgm:prSet/>
      <dgm:spPr/>
      <dgm:t>
        <a:bodyPr/>
        <a:lstStyle/>
        <a:p>
          <a:endParaRPr lang="zh-CN" altLang="en-US"/>
        </a:p>
      </dgm:t>
    </dgm:pt>
    <dgm:pt modelId="{A797BA43-EAEA-4EA1-82EA-19670F507607}">
      <dgm:prSet custT="1"/>
      <dgm:spPr/>
      <dgm:t>
        <a:bodyPr/>
        <a:lstStyle/>
        <a:p>
          <a:r>
            <a: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缩微摄影光学制备。 采用光学缩小技术将大尺寸掩模原稿投射至高分辨感光材料，绕过数字化输出的物理尺寸限制。</a:t>
          </a:r>
        </a:p>
      </dgm:t>
    </dgm:pt>
    <dgm:pt modelId="{95BC25CB-617A-4883-9260-40C6BDA4C477}" type="parTrans" cxnId="{A9A09661-A0B5-4264-A6EC-FF27D2F3EE0D}">
      <dgm:prSet/>
      <dgm:spPr/>
      <dgm:t>
        <a:bodyPr/>
        <a:lstStyle/>
        <a:p>
          <a:endParaRPr lang="zh-CN" altLang="en-US"/>
        </a:p>
      </dgm:t>
    </dgm:pt>
    <dgm:pt modelId="{428585B9-A8E7-42BE-AA0E-F43B1F174DCD}" type="sibTrans" cxnId="{A9A09661-A0B5-4264-A6EC-FF27D2F3EE0D}">
      <dgm:prSet/>
      <dgm:spPr/>
      <dgm:t>
        <a:bodyPr/>
        <a:lstStyle/>
        <a:p>
          <a:endParaRPr lang="zh-CN" altLang="en-US"/>
        </a:p>
      </dgm:t>
    </dgm:pt>
    <dgm:pt modelId="{802BB6F1-2290-4926-A1A9-8243DCA54F00}">
      <dgm:prSet custT="1"/>
      <dgm:spPr/>
      <dgm:t>
        <a:bodyPr/>
        <a:lstStyle/>
        <a:p>
          <a:r>
            <a:rPr 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AI </a:t>
          </a:r>
          <a:r>
            <a:rPr 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辅助焦斑重构。 引入机器学习算法对 </a:t>
          </a:r>
          <a:r>
            <a:rPr 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CCD </a:t>
          </a:r>
          <a:r>
            <a:rPr lang="zh-CN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捕获的焦斑进行超分辨拟合，消除因掩模不完美导致的几何畸变。</a:t>
          </a:r>
        </a:p>
      </dgm:t>
    </dgm:pt>
    <dgm:pt modelId="{672C4A93-EE1D-4281-8D45-62AE2B792A01}" type="parTrans" cxnId="{08534234-2922-4009-B0A3-9D0D4DC04884}">
      <dgm:prSet/>
      <dgm:spPr/>
      <dgm:t>
        <a:bodyPr/>
        <a:lstStyle/>
        <a:p>
          <a:endParaRPr lang="zh-CN" altLang="en-US"/>
        </a:p>
      </dgm:t>
    </dgm:pt>
    <dgm:pt modelId="{398C8C89-68F5-4A8D-BB55-75005BC94590}" type="sibTrans" cxnId="{08534234-2922-4009-B0A3-9D0D4DC04884}">
      <dgm:prSet/>
      <dgm:spPr/>
      <dgm:t>
        <a:bodyPr/>
        <a:lstStyle/>
        <a:p>
          <a:endParaRPr lang="zh-CN" altLang="en-US"/>
        </a:p>
      </dgm:t>
    </dgm:pt>
    <dgm:pt modelId="{81BD9D8D-A382-4BDE-8229-4670064E9C80}" type="pres">
      <dgm:prSet presAssocID="{BEAE42F9-2251-4272-9DBD-A411EC97E6A9}" presName="linear" presStyleCnt="0">
        <dgm:presLayoutVars>
          <dgm:animLvl val="lvl"/>
          <dgm:resizeHandles val="exact"/>
        </dgm:presLayoutVars>
      </dgm:prSet>
      <dgm:spPr/>
    </dgm:pt>
    <dgm:pt modelId="{AF7EF1D1-E899-4876-8904-FE62E4F0ED81}" type="pres">
      <dgm:prSet presAssocID="{22A11111-113C-4F5B-AEBD-A06AD1FBF39C}" presName="parentText" presStyleLbl="node1" presStyleIdx="0" presStyleCnt="3" custLinFactNeighborX="-4228" custLinFactNeighborY="16282">
        <dgm:presLayoutVars>
          <dgm:chMax val="0"/>
          <dgm:bulletEnabled val="1"/>
        </dgm:presLayoutVars>
      </dgm:prSet>
      <dgm:spPr/>
    </dgm:pt>
    <dgm:pt modelId="{C6E20225-3E59-4CB2-B6E7-ABA3C21AFC01}" type="pres">
      <dgm:prSet presAssocID="{5576C4E2-51ED-40EF-B33A-E264F65406F6}" presName="spacer" presStyleCnt="0"/>
      <dgm:spPr/>
    </dgm:pt>
    <dgm:pt modelId="{E5118667-EA7C-4114-815E-F17E015EE096}" type="pres">
      <dgm:prSet presAssocID="{A797BA43-EAEA-4EA1-82EA-19670F5076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B7484-9E8B-45A0-84F8-6EF05BEDCF17}" type="pres">
      <dgm:prSet presAssocID="{428585B9-A8E7-42BE-AA0E-F43B1F174DCD}" presName="spacer" presStyleCnt="0"/>
      <dgm:spPr/>
    </dgm:pt>
    <dgm:pt modelId="{DC2726B8-87CA-4A31-B1F6-BC4BA2C0B9A1}" type="pres">
      <dgm:prSet presAssocID="{802BB6F1-2290-4926-A1A9-8243DCA54F0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4AE9612-B12B-4043-9F10-F4E0772765A3}" type="presOf" srcId="{802BB6F1-2290-4926-A1A9-8243DCA54F00}" destId="{DC2726B8-87CA-4A31-B1F6-BC4BA2C0B9A1}" srcOrd="0" destOrd="0" presId="urn:microsoft.com/office/officeart/2005/8/layout/vList2"/>
    <dgm:cxn modelId="{02D47622-C1E1-4267-8582-03C5C61DCDD4}" type="presOf" srcId="{22A11111-113C-4F5B-AEBD-A06AD1FBF39C}" destId="{AF7EF1D1-E899-4876-8904-FE62E4F0ED81}" srcOrd="0" destOrd="0" presId="urn:microsoft.com/office/officeart/2005/8/layout/vList2"/>
    <dgm:cxn modelId="{88169622-C0AB-481A-A01B-7758220CB81A}" type="presOf" srcId="{BEAE42F9-2251-4272-9DBD-A411EC97E6A9}" destId="{81BD9D8D-A382-4BDE-8229-4670064E9C80}" srcOrd="0" destOrd="0" presId="urn:microsoft.com/office/officeart/2005/8/layout/vList2"/>
    <dgm:cxn modelId="{08534234-2922-4009-B0A3-9D0D4DC04884}" srcId="{BEAE42F9-2251-4272-9DBD-A411EC97E6A9}" destId="{802BB6F1-2290-4926-A1A9-8243DCA54F00}" srcOrd="2" destOrd="0" parTransId="{672C4A93-EE1D-4281-8D45-62AE2B792A01}" sibTransId="{398C8C89-68F5-4A8D-BB55-75005BC94590}"/>
    <dgm:cxn modelId="{A9A09661-A0B5-4264-A6EC-FF27D2F3EE0D}" srcId="{BEAE42F9-2251-4272-9DBD-A411EC97E6A9}" destId="{A797BA43-EAEA-4EA1-82EA-19670F507607}" srcOrd="1" destOrd="0" parTransId="{95BC25CB-617A-4883-9260-40C6BDA4C477}" sibTransId="{428585B9-A8E7-42BE-AA0E-F43B1F174DCD}"/>
    <dgm:cxn modelId="{F6CA3072-2095-4CA5-B0E6-637A153218B6}" type="presOf" srcId="{A797BA43-EAEA-4EA1-82EA-19670F507607}" destId="{E5118667-EA7C-4114-815E-F17E015EE096}" srcOrd="0" destOrd="0" presId="urn:microsoft.com/office/officeart/2005/8/layout/vList2"/>
    <dgm:cxn modelId="{022A47B6-B419-4C3E-B774-066E6D5D5B5B}" srcId="{BEAE42F9-2251-4272-9DBD-A411EC97E6A9}" destId="{22A11111-113C-4F5B-AEBD-A06AD1FBF39C}" srcOrd="0" destOrd="0" parTransId="{E3FA2B04-1416-40A2-8E54-B4627F14C831}" sibTransId="{5576C4E2-51ED-40EF-B33A-E264F65406F6}"/>
    <dgm:cxn modelId="{0D02D9E9-F2E1-4BA2-908E-E3B3E845ECA9}" type="presParOf" srcId="{81BD9D8D-A382-4BDE-8229-4670064E9C80}" destId="{AF7EF1D1-E899-4876-8904-FE62E4F0ED81}" srcOrd="0" destOrd="0" presId="urn:microsoft.com/office/officeart/2005/8/layout/vList2"/>
    <dgm:cxn modelId="{F0AFEC00-906C-4062-9E38-127DEF62EE0A}" type="presParOf" srcId="{81BD9D8D-A382-4BDE-8229-4670064E9C80}" destId="{C6E20225-3E59-4CB2-B6E7-ABA3C21AFC01}" srcOrd="1" destOrd="0" presId="urn:microsoft.com/office/officeart/2005/8/layout/vList2"/>
    <dgm:cxn modelId="{F7124CB9-4156-45D8-9BC6-E563A1D6FA08}" type="presParOf" srcId="{81BD9D8D-A382-4BDE-8229-4670064E9C80}" destId="{E5118667-EA7C-4114-815E-F17E015EE096}" srcOrd="2" destOrd="0" presId="urn:microsoft.com/office/officeart/2005/8/layout/vList2"/>
    <dgm:cxn modelId="{77B32A9A-A04C-4858-BB47-5ADAED7DAC6C}" type="presParOf" srcId="{81BD9D8D-A382-4BDE-8229-4670064E9C80}" destId="{16CB7484-9E8B-45A0-84F8-6EF05BEDCF17}" srcOrd="3" destOrd="0" presId="urn:microsoft.com/office/officeart/2005/8/layout/vList2"/>
    <dgm:cxn modelId="{93DA1F3E-3463-48E4-A274-C44210A0D7E4}" type="presParOf" srcId="{81BD9D8D-A382-4BDE-8229-4670064E9C80}" destId="{DC2726B8-87CA-4A31-B1F6-BC4BA2C0B9A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AFADE-5B9C-4CE0-B983-797A66A56491}">
      <dsp:nvSpPr>
        <dsp:cNvPr id="0" name=""/>
        <dsp:cNvSpPr/>
      </dsp:nvSpPr>
      <dsp:spPr>
        <a:xfrm>
          <a:off x="0" y="5909"/>
          <a:ext cx="3826952" cy="5563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精确半径演算 ：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157" y="33066"/>
        <a:ext cx="3772638" cy="501994"/>
      </dsp:txXfrm>
    </dsp:sp>
    <dsp:sp modelId="{37CD2CD0-ABA5-4F7B-BCE6-B012E044B171}">
      <dsp:nvSpPr>
        <dsp:cNvPr id="0" name=""/>
        <dsp:cNvSpPr/>
      </dsp:nvSpPr>
      <dsp:spPr>
        <a:xfrm>
          <a:off x="0" y="522367"/>
          <a:ext cx="3826952" cy="1480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506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采用非近似相位补偿模型：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zh-CN" sz="1400" b="0" i="1" kern="1200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</m:ctrlPr>
                </m:sSubPr>
                <m:e>
                  <m:r>
                    <a:rPr lang="en-US" altLang="zh-CN" sz="1400" b="0" i="1" kern="1200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  <m:t>𝑟</m:t>
                  </m:r>
                </m:e>
                <m:sub>
                  <m:r>
                    <a:rPr lang="en-US" altLang="zh-CN" sz="1400" b="0" i="1" kern="1200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  <m:t>𝑛</m:t>
                  </m:r>
                </m:sub>
              </m:sSub>
              <m:r>
                <a:rPr lang="en-US" altLang="zh-CN" sz="1400" b="0" i="1" kern="1200" smtClean="0">
                  <a:latin typeface="Cambria Math" panose="02040503050406030204" pitchFamily="18" charset="0"/>
                  <a:ea typeface="微软雅黑" panose="020B0503020204020204" pitchFamily="34" charset="-122"/>
                </a:rPr>
                <m:t>=</m:t>
              </m:r>
              <m:rad>
                <m:radPr>
                  <m:degHide m:val="on"/>
                  <m:ctrlPr>
                    <a:rPr lang="en-US" altLang="zh-CN" sz="1400" b="0" i="1" kern="1200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</m:ctrlPr>
                </m:radPr>
                <m:deg/>
                <m:e>
                  <m:r>
                    <a:rPr lang="en-US" altLang="zh-CN" sz="1400" b="0" i="1" kern="1200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  <m:t>𝑛</m:t>
                  </m:r>
                  <m:r>
                    <a:rPr lang="zh-CN" altLang="en-US" sz="1400" b="0" i="1" kern="1200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  <m:t>𝜆</m:t>
                  </m:r>
                  <m:r>
                    <a:rPr lang="en-US" altLang="zh-CN" sz="1400" b="0" i="1" kern="1200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  <m:t>𝑓</m:t>
                  </m:r>
                  <m:r>
                    <a:rPr lang="en-US" altLang="zh-CN" sz="1400" b="0" i="1" kern="1200" smtClean="0">
                      <a:latin typeface="Cambria Math" panose="02040503050406030204" pitchFamily="18" charset="0"/>
                      <a:ea typeface="微软雅黑" panose="020B0503020204020204" pitchFamily="34" charset="-122"/>
                    </a:rPr>
                    <m:t>+</m:t>
                  </m:r>
                  <m:sSup>
                    <m:sSupPr>
                      <m:ctrlPr>
                        <a:rPr lang="en-US" altLang="zh-CN" sz="1400" b="0" i="1" kern="120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</m:ctrlPr>
                    </m:sSupPr>
                    <m:e>
                      <m:d>
                        <m:dPr>
                          <m:ctrlPr>
                            <a:rPr lang="en-US" altLang="zh-CN" sz="1400" b="0" i="1" kern="120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0" i="1" kern="120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zh-CN" altLang="en-US" sz="1400" b="0" i="1" kern="120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sz="1400" b="0" i="1" kern="120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e>
                      </m:d>
                    </m:e>
                    <m:sup>
                      <m:r>
                        <a:rPr lang="en-US" altLang="zh-CN" sz="1400" b="0" i="1" kern="120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2</m:t>
                      </m:r>
                    </m:sup>
                  </m:sSup>
                </m:e>
              </m:rad>
            </m:oMath>
          </a14:m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设计初衷： 消除近轴近似带来的累积相位差，确保在高带数（</a:t>
          </a:r>
          <a:r>
            <a:rPr lang="en-US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N&gt;100</a:t>
          </a: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）情况下的干涉波前完整度。</a:t>
          </a:r>
        </a:p>
      </dsp:txBody>
      <dsp:txXfrm>
        <a:off x="0" y="522367"/>
        <a:ext cx="3826952" cy="1480049"/>
      </dsp:txXfrm>
    </dsp:sp>
    <dsp:sp modelId="{C28B430E-BBE2-4083-971B-BD68CE943AC4}">
      <dsp:nvSpPr>
        <dsp:cNvPr id="0" name=""/>
        <dsp:cNvSpPr/>
      </dsp:nvSpPr>
      <dsp:spPr>
        <a:xfrm>
          <a:off x="0" y="1992670"/>
          <a:ext cx="3826952" cy="564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数字化制备 </a:t>
          </a:r>
          <a:r>
            <a:rPr lang="en-US" sz="1800" b="1" kern="1200" dirty="0"/>
            <a:t>：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552" y="2020222"/>
        <a:ext cx="3771848" cy="509296"/>
      </dsp:txXfrm>
    </dsp:sp>
    <dsp:sp modelId="{F1549A75-6BE4-4B6E-997F-2EFC55DADC2C}">
      <dsp:nvSpPr>
        <dsp:cNvPr id="0" name=""/>
        <dsp:cNvSpPr/>
      </dsp:nvSpPr>
      <dsp:spPr>
        <a:xfrm>
          <a:off x="0" y="2505357"/>
          <a:ext cx="3826952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506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利用 </a:t>
          </a:r>
          <a:r>
            <a:rPr lang="en-US" alt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Python </a:t>
          </a:r>
          <a:r>
            <a:rPr lang="zh-CN" alt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实现亚像素级坐标映射，输出 </a:t>
          </a:r>
          <a:r>
            <a:rPr lang="en-US" alt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3600 DPI </a:t>
          </a:r>
          <a:r>
            <a:rPr lang="zh-CN" alt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级别的工业级矢量图形。</a:t>
          </a:r>
          <a:endParaRPr lang="zh-CN" altLang="en-US" sz="1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400" b="0" kern="1200" dirty="0"/>
            <a:t>物理属性： 生成具备高消光比的二元振幅掩模，确保“透光区”与“遮挡区”的相位阶跃锐利。</a:t>
          </a:r>
          <a:endParaRPr lang="zh-CN" altLang="en-US" sz="14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505357"/>
        <a:ext cx="3826952" cy="12109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97F87-D8C6-4BA7-884F-54B4C21A3667}">
      <dsp:nvSpPr>
        <dsp:cNvPr id="0" name=""/>
        <dsp:cNvSpPr/>
      </dsp:nvSpPr>
      <dsp:spPr>
        <a:xfrm>
          <a:off x="0" y="2039"/>
          <a:ext cx="5403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2E6DB0-3D8A-46D1-9A2A-E517F9CD9CF7}">
      <dsp:nvSpPr>
        <dsp:cNvPr id="0" name=""/>
        <dsp:cNvSpPr/>
      </dsp:nvSpPr>
      <dsp:spPr>
        <a:xfrm>
          <a:off x="26855" y="290650"/>
          <a:ext cx="450389" cy="1324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核心挑战</a:t>
          </a:r>
        </a:p>
      </dsp:txBody>
      <dsp:txXfrm>
        <a:off x="26855" y="290650"/>
        <a:ext cx="450389" cy="1324806"/>
      </dsp:txXfrm>
    </dsp:sp>
    <dsp:sp modelId="{89583649-C6DE-4C84-8CA3-F0A3351D96A2}">
      <dsp:nvSpPr>
        <dsp:cNvPr id="0" name=""/>
        <dsp:cNvSpPr/>
      </dsp:nvSpPr>
      <dsp:spPr>
        <a:xfrm>
          <a:off x="531437" y="34122"/>
          <a:ext cx="4697777" cy="656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振幅消光比限制： 物理遮挡区的透过率无法绝对清零，产生的零级背景噪声会降低焦点处的信噪比 </a:t>
          </a:r>
          <a:r>
            <a:rPr lang="en-US" altLang="zh-CN" sz="1400" kern="1200" dirty="0"/>
            <a:t>(SNR)</a:t>
          </a:r>
          <a:r>
            <a:rPr lang="zh-CN" altLang="en-US" sz="1400" kern="1200" dirty="0"/>
            <a:t>。</a:t>
          </a:r>
        </a:p>
      </dsp:txBody>
      <dsp:txXfrm>
        <a:off x="531437" y="34122"/>
        <a:ext cx="4697777" cy="656669"/>
      </dsp:txXfrm>
    </dsp:sp>
    <dsp:sp modelId="{2E7649CA-7EC9-46CB-A4F0-C48371699E46}">
      <dsp:nvSpPr>
        <dsp:cNvPr id="0" name=""/>
        <dsp:cNvSpPr/>
      </dsp:nvSpPr>
      <dsp:spPr>
        <a:xfrm>
          <a:off x="450389" y="690791"/>
          <a:ext cx="43225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F8120-6221-4DB6-9D7A-EADC8E8F95F6}">
      <dsp:nvSpPr>
        <dsp:cNvPr id="0" name=""/>
        <dsp:cNvSpPr/>
      </dsp:nvSpPr>
      <dsp:spPr>
        <a:xfrm>
          <a:off x="531437" y="722874"/>
          <a:ext cx="4837620" cy="639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空间采样误差： 数字化制备中的离散点阵会导致边缘呈现微观阶梯状，引入高级次衍射分量。</a:t>
          </a:r>
        </a:p>
      </dsp:txBody>
      <dsp:txXfrm>
        <a:off x="531437" y="722874"/>
        <a:ext cx="4837620" cy="639145"/>
      </dsp:txXfrm>
    </dsp:sp>
    <dsp:sp modelId="{B069A369-DB0D-4CBB-B9C7-3AC2AC5B900E}">
      <dsp:nvSpPr>
        <dsp:cNvPr id="0" name=""/>
        <dsp:cNvSpPr/>
      </dsp:nvSpPr>
      <dsp:spPr>
        <a:xfrm>
          <a:off x="450389" y="1362020"/>
          <a:ext cx="43225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0BE86F-4538-40FC-B74D-1112B8E08E00}">
      <dsp:nvSpPr>
        <dsp:cNvPr id="0" name=""/>
        <dsp:cNvSpPr/>
      </dsp:nvSpPr>
      <dsp:spPr>
        <a:xfrm>
          <a:off x="531437" y="1394103"/>
          <a:ext cx="4785195" cy="627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线宽极限： 当设计焦距 </a:t>
          </a:r>
          <a14:m xmlns:a14="http://schemas.microsoft.com/office/drawing/2010/main">
            <m:oMath xmlns:m="http://schemas.openxmlformats.org/officeDocument/2006/math">
              <m:r>
                <a:rPr lang="en-US" altLang="zh-CN" sz="1400" b="0" i="1" kern="1200" smtClean="0">
                  <a:latin typeface="Cambria Math" panose="02040503050406030204" pitchFamily="18" charset="0"/>
                  <a:ea typeface="微软雅黑" panose="020B0503020204020204" pitchFamily="34" charset="-122"/>
                </a:rPr>
                <m:t>𝑓</m:t>
              </m:r>
            </m:oMath>
          </a14:m>
          <a:r>
            <a:rPr lang="zh-CN" altLang="en-US" sz="1400" kern="1200" dirty="0"/>
            <a:t> 较短时，外环线宽趋近于设备物理极限（约 </a:t>
          </a:r>
          <a:r>
            <a:rPr lang="en-US" altLang="zh-CN" sz="1400" kern="1200" dirty="0"/>
            <a:t>7</a:t>
          </a:r>
          <a14:m xmlns:a14="http://schemas.microsoft.com/office/drawing/2010/main">
            <m:oMath xmlns:m="http://schemas.openxmlformats.org/officeDocument/2006/math">
              <m:r>
                <a:rPr lang="zh-CN" altLang="en-US" sz="1400" i="1" kern="1200" smtClean="0">
                  <a:latin typeface="Cambria Math" panose="02040503050406030204" pitchFamily="18" charset="0"/>
                </a:rPr>
                <m:t>𝜇</m:t>
              </m:r>
              <m:r>
                <m:rPr>
                  <m:sty m:val="p"/>
                </m:rPr>
                <a:rPr lang="en-US" altLang="zh-CN" sz="1400" i="1" kern="1200" smtClean="0">
                  <a:latin typeface="Cambria Math" panose="02040503050406030204" pitchFamily="18" charset="0"/>
                </a:rPr>
                <m:t>m</m:t>
              </m:r>
            </m:oMath>
          </a14:m>
          <a:r>
            <a:rPr lang="zh-CN" altLang="en-US" sz="1400" kern="1200" dirty="0"/>
            <a:t>），导致衍射效率下降。</a:t>
          </a:r>
        </a:p>
      </dsp:txBody>
      <dsp:txXfrm>
        <a:off x="531437" y="1394103"/>
        <a:ext cx="4785195" cy="627076"/>
      </dsp:txXfrm>
    </dsp:sp>
    <dsp:sp modelId="{F985E36B-AAD4-45F5-ADB9-842E5BCF81CF}">
      <dsp:nvSpPr>
        <dsp:cNvPr id="0" name=""/>
        <dsp:cNvSpPr/>
      </dsp:nvSpPr>
      <dsp:spPr>
        <a:xfrm>
          <a:off x="450389" y="2021179"/>
          <a:ext cx="43225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EF1D1-E899-4876-8904-FE62E4F0ED81}">
      <dsp:nvSpPr>
        <dsp:cNvPr id="0" name=""/>
        <dsp:cNvSpPr/>
      </dsp:nvSpPr>
      <dsp:spPr>
        <a:xfrm>
          <a:off x="0" y="3112"/>
          <a:ext cx="4762206" cy="6816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长焦距降噪设计。 通过增大设计焦距 𝑓 提升最小带宽，降低空间采样误差对波前的调控压力。</a:t>
          </a:r>
        </a:p>
      </dsp:txBody>
      <dsp:txXfrm>
        <a:off x="33277" y="36389"/>
        <a:ext cx="4695652" cy="615119"/>
      </dsp:txXfrm>
    </dsp:sp>
    <dsp:sp modelId="{E5118667-EA7C-4114-815E-F17E015EE096}">
      <dsp:nvSpPr>
        <dsp:cNvPr id="0" name=""/>
        <dsp:cNvSpPr/>
      </dsp:nvSpPr>
      <dsp:spPr>
        <a:xfrm>
          <a:off x="0" y="695934"/>
          <a:ext cx="4762206" cy="6816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缩微摄影光学制备。 采用光学缩小技术将大尺寸掩模原稿投射至高分辨感光材料，绕过数字化输出的物理尺寸限制。</a:t>
          </a:r>
        </a:p>
      </dsp:txBody>
      <dsp:txXfrm>
        <a:off x="33277" y="729211"/>
        <a:ext cx="4695652" cy="615119"/>
      </dsp:txXfrm>
    </dsp:sp>
    <dsp:sp modelId="{DC2726B8-87CA-4A31-B1F6-BC4BA2C0B9A1}">
      <dsp:nvSpPr>
        <dsp:cNvPr id="0" name=""/>
        <dsp:cNvSpPr/>
      </dsp:nvSpPr>
      <dsp:spPr>
        <a:xfrm>
          <a:off x="0" y="1390925"/>
          <a:ext cx="4762206" cy="6816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AI 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辅助焦斑重构。 引入机器学习算法对 </a:t>
          </a:r>
          <a:r>
            <a:rPr 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CCD </a:t>
          </a:r>
          <a:r>
            <a:rPr lang="zh-CN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捕获的焦斑进行超分辨拟合，消除因掩模不完美导致的几何畸变。</a:t>
          </a:r>
        </a:p>
      </dsp:txBody>
      <dsp:txXfrm>
        <a:off x="33277" y="1424202"/>
        <a:ext cx="4695652" cy="615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CEE80-FCFA-4752-BD9D-CE1121F80C3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F106D-1169-4B12-BD03-A793E7E0E2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09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2F106D-1169-4B12-BD03-A793E7E0E2C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29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2.png"/><Relationship Id="rId1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diagramColors" Target="../diagrams/colors2.xml"/><Relationship Id="rId18" Type="http://schemas.microsoft.com/office/2007/relationships/diagramDrawing" Target="../diagrams/drawing3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2.xml"/><Relationship Id="rId12" Type="http://schemas.openxmlformats.org/officeDocument/2006/relationships/diagramQuickStyle" Target="../diagrams/quickStyle2.xml"/><Relationship Id="rId17" Type="http://schemas.openxmlformats.org/officeDocument/2006/relationships/diagramColors" Target="../diagrams/colors3.xml"/><Relationship Id="rId2" Type="http://schemas.openxmlformats.org/officeDocument/2006/relationships/image" Target="../media/image3.png"/><Relationship Id="rId16" Type="http://schemas.openxmlformats.org/officeDocument/2006/relationships/diagramQuickStyle" Target="../diagrams/quickStyle3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3.xml"/><Relationship Id="rId15" Type="http://schemas.openxmlformats.org/officeDocument/2006/relationships/diagramLayout" Target="../diagrams/layout3.xml"/><Relationship Id="rId10" Type="http://schemas.openxmlformats.org/officeDocument/2006/relationships/diagramData" Target="../diagrams/data4.xml"/><Relationship Id="rId19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07/relationships/diagramDrawing" Target="../diagrams/drawing2.xml"/><Relationship Id="rId14" Type="http://schemas.openxmlformats.org/officeDocument/2006/relationships/diagramData" Target="../diagrams/data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0" y="2361819"/>
            <a:ext cx="12192000" cy="1460500"/>
          </a:xfrm>
          <a:prstGeom prst="rect">
            <a:avLst/>
          </a:prstGeom>
          <a:solidFill>
            <a:srgbClr val="0B5AA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49675" algn="l" rtl="0" eaLnBrk="0">
              <a:lnSpc>
                <a:spcPct val="89000"/>
              </a:lnSpc>
              <a:spcBef>
                <a:spcPts val="5"/>
              </a:spcBef>
            </a:pPr>
            <a:r>
              <a:rPr lang="en-US" sz="4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xxx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3392" y="692657"/>
            <a:ext cx="5872860" cy="46799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920476" y="6093294"/>
            <a:ext cx="895591" cy="521995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5358283" y="4685760"/>
            <a:ext cx="1490980" cy="296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000" b="1" kern="0" spc="-20" dirty="0">
                <a:solidFill>
                  <a:srgbClr val="0B5A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2025-11-24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21600000">
            <a:off x="0" y="148590"/>
            <a:ext cx="12235180" cy="817880"/>
            <a:chOff x="0" y="0"/>
            <a:chExt cx="12235180" cy="817880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192000" cy="704215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2591435" y="87630"/>
              <a:ext cx="9643745" cy="730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5000"/>
                </a:lnSpc>
              </a:pPr>
              <a:r>
                <a:rPr lang="en-US" sz="2400" b="1" kern="0" spc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lang="zh-CN" altLang="en-US" sz="2800" b="1" kern="0" spc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初期制作方案：基于算法驱动的数字化掩模设计</a:t>
              </a:r>
              <a:endParaRPr sz="2800" b="1" baseline="1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8" name="picture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741367"/>
            <a:ext cx="12191999" cy="108952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920476" y="5917907"/>
            <a:ext cx="895591" cy="52198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471910" y="436245"/>
            <a:ext cx="48133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kern="0" baseline="1000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5900" y="275590"/>
            <a:ext cx="2217420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3600" b="1" kern="0" spc="10" baseline="15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</a:t>
            </a:r>
            <a:endParaRPr lang="zh-CN" altLang="en-US" sz="3600" b="1" kern="0" spc="10" baseline="1500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图示 8">
                <a:extLst>
                  <a:ext uri="{FF2B5EF4-FFF2-40B4-BE49-F238E27FC236}">
                    <a16:creationId xmlns:a16="http://schemas.microsoft.com/office/drawing/2014/main" id="{242BBCD1-D449-45ED-9F57-537F9FFBCF1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13923671"/>
                  </p:ext>
                </p:extLst>
              </p:nvPr>
            </p:nvGraphicFramePr>
            <p:xfrm>
              <a:off x="148788" y="1658508"/>
              <a:ext cx="3826952" cy="39559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</mc:Choice>
        <mc:Fallback xmlns="">
          <p:graphicFrame>
            <p:nvGraphicFramePr>
              <p:cNvPr id="9" name="图示 8">
                <a:extLst>
                  <a:ext uri="{FF2B5EF4-FFF2-40B4-BE49-F238E27FC236}">
                    <a16:creationId xmlns:a16="http://schemas.microsoft.com/office/drawing/2014/main" id="{242BBCD1-D449-45ED-9F57-537F9FFBCF1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13923671"/>
                  </p:ext>
                </p:extLst>
              </p:nvPr>
            </p:nvGraphicFramePr>
            <p:xfrm>
              <a:off x="148788" y="1658508"/>
              <a:ext cx="3826952" cy="39559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1" r:lo="rId12" r:qs="rId13" r:cs="rId14"/>
              </a:graphicData>
            </a:graphic>
          </p:graphicFrame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4A3014A3-719F-495C-B462-6BE34DD50D01}"/>
              </a:ext>
            </a:extLst>
          </p:cNvPr>
          <p:cNvSpPr txBox="1"/>
          <p:nvPr/>
        </p:nvSpPr>
        <p:spPr>
          <a:xfrm>
            <a:off x="5167618" y="4770879"/>
            <a:ext cx="5665368" cy="116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方案选定理由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快速原型验证： 数字化掩模支持参数的即时修改与快速产出，极大缩短了“设计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修正”的闭环时间。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精密匹配： 设计参数与实验室现有的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米长精密光具座物理规格严格匹配，确保初始调焦的可靠性。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EBC612F-F824-40C6-BEEA-0E43D7227481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-277" r="50000"/>
          <a:stretch/>
        </p:blipFill>
        <p:spPr>
          <a:xfrm>
            <a:off x="4751053" y="1478888"/>
            <a:ext cx="2437998" cy="24447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75D0CBA-B1C6-4054-86AD-5725F78E7B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54198" y="1456417"/>
            <a:ext cx="4193229" cy="268837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59B88AA-E3F4-45B8-89A8-065B1F0726D2}"/>
              </a:ext>
            </a:extLst>
          </p:cNvPr>
          <p:cNvSpPr txBox="1"/>
          <p:nvPr/>
        </p:nvSpPr>
        <p:spPr>
          <a:xfrm>
            <a:off x="5775065" y="4143076"/>
            <a:ext cx="4882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Source: Al-</a:t>
            </a:r>
            <a:r>
              <a:rPr lang="en-US" altLang="zh-CN" sz="1200" dirty="0" err="1"/>
              <a:t>Shetwi</a:t>
            </a:r>
            <a:r>
              <a:rPr lang="en-US" altLang="zh-CN" sz="1200" dirty="0"/>
              <a:t> et al., Appl. Sci. 2020, 10(22), 8121. (CC BY 4.0)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21600000">
            <a:off x="0" y="148590"/>
            <a:ext cx="12235180" cy="817880"/>
            <a:chOff x="0" y="0"/>
            <a:chExt cx="12235180" cy="817880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704215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2591435" y="87630"/>
              <a:ext cx="9643745" cy="730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5000"/>
                </a:lnSpc>
              </a:pPr>
              <a:r>
                <a:rPr lang="en-US" sz="2400" b="1" kern="0" spc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lang="zh-CN" altLang="en-US" sz="2400" b="1" kern="0" spc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工艺局限性剖析与系统精度优化</a:t>
              </a:r>
              <a:endParaRPr lang="en-US" sz="2400" baseline="1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41367"/>
            <a:ext cx="12191999" cy="108952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20476" y="5917907"/>
            <a:ext cx="895591" cy="52198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471910" y="436245"/>
            <a:ext cx="48133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kern="0" baseline="1000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5900" y="275590"/>
            <a:ext cx="2217420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3600" b="1" kern="0" spc="10" baseline="15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</a:t>
            </a:r>
            <a:endParaRPr lang="zh-CN" altLang="en-US" sz="3600" b="1" kern="0" spc="10" baseline="1500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box 72">
            <a:extLst>
              <a:ext uri="{FF2B5EF4-FFF2-40B4-BE49-F238E27FC236}">
                <a16:creationId xmlns:a16="http://schemas.microsoft.com/office/drawing/2014/main" id="{BD3FCB3A-C9B3-413D-BCF2-1ED9272D3B03}"/>
              </a:ext>
            </a:extLst>
          </p:cNvPr>
          <p:cNvSpPr/>
          <p:nvPr/>
        </p:nvSpPr>
        <p:spPr>
          <a:xfrm>
            <a:off x="6095999" y="807566"/>
            <a:ext cx="5957704" cy="52198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5000"/>
              </a:lnSpc>
            </a:pPr>
            <a:r>
              <a:rPr lang="en-US" altLang="zh-CN" sz="2400" b="1" kern="0" spc="0" dirty="0">
                <a:solidFill>
                  <a:srgbClr val="0B5A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400" b="1" kern="0" spc="0" dirty="0">
                <a:solidFill>
                  <a:srgbClr val="0B5A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针对数字化掩模性能瓶颈的物理补偿 </a:t>
            </a:r>
            <a:endParaRPr lang="en-US" sz="2400" baseline="10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图示 4">
                <a:extLst>
                  <a:ext uri="{FF2B5EF4-FFF2-40B4-BE49-F238E27FC236}">
                    <a16:creationId xmlns:a16="http://schemas.microsoft.com/office/drawing/2014/main" id="{CCD1E465-CE35-4C7C-B26E-A4318E88E92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26340506"/>
                  </p:ext>
                </p:extLst>
              </p:nvPr>
            </p:nvGraphicFramePr>
            <p:xfrm>
              <a:off x="215900" y="1027917"/>
              <a:ext cx="5403207" cy="205530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5" r:lo="rId6" r:qs="rId7" r:cs="rId8"/>
              </a:graphicData>
            </a:graphic>
          </p:graphicFrame>
        </mc:Choice>
        <mc:Fallback xmlns="">
          <p:graphicFrame>
            <p:nvGraphicFramePr>
              <p:cNvPr id="5" name="图示 4">
                <a:extLst>
                  <a:ext uri="{FF2B5EF4-FFF2-40B4-BE49-F238E27FC236}">
                    <a16:creationId xmlns:a16="http://schemas.microsoft.com/office/drawing/2014/main" id="{CCD1E465-CE35-4C7C-B26E-A4318E88E92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26340506"/>
                  </p:ext>
                </p:extLst>
              </p:nvPr>
            </p:nvGraphicFramePr>
            <p:xfrm>
              <a:off x="215900" y="1027917"/>
              <a:ext cx="5403207" cy="205530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0" r:lo="rId11" r:qs="rId12" r:cs="rId13"/>
              </a:graphicData>
            </a:graphic>
          </p:graphicFrame>
        </mc:Fallback>
      </mc:AlternateContent>
      <p:sp>
        <p:nvSpPr>
          <p:cNvPr id="10" name="箭头: 下 9">
            <a:extLst>
              <a:ext uri="{FF2B5EF4-FFF2-40B4-BE49-F238E27FC236}">
                <a16:creationId xmlns:a16="http://schemas.microsoft.com/office/drawing/2014/main" id="{D4089BC4-F221-4A48-AA10-A4742124C39C}"/>
              </a:ext>
            </a:extLst>
          </p:cNvPr>
          <p:cNvSpPr/>
          <p:nvPr/>
        </p:nvSpPr>
        <p:spPr>
          <a:xfrm>
            <a:off x="181237" y="2827226"/>
            <a:ext cx="498271" cy="1249824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3426A8-E0BB-45F8-8594-7F0CDC4969C0}"/>
              </a:ext>
            </a:extLst>
          </p:cNvPr>
          <p:cNvSpPr/>
          <p:nvPr/>
        </p:nvSpPr>
        <p:spPr>
          <a:xfrm>
            <a:off x="205177" y="4378527"/>
            <a:ext cx="450389" cy="1324806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A50AB5A-1FDB-4AB3-8DAD-B749DFDC00E2}"/>
              </a:ext>
            </a:extLst>
          </p:cNvPr>
          <p:cNvSpPr txBox="1"/>
          <p:nvPr/>
        </p:nvSpPr>
        <p:spPr>
          <a:xfrm>
            <a:off x="229119" y="4121252"/>
            <a:ext cx="4503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应对策略</a:t>
            </a:r>
          </a:p>
        </p:txBody>
      </p:sp>
      <p:graphicFrame>
        <p:nvGraphicFramePr>
          <p:cNvPr id="14" name="图示 13">
            <a:extLst>
              <a:ext uri="{FF2B5EF4-FFF2-40B4-BE49-F238E27FC236}">
                <a16:creationId xmlns:a16="http://schemas.microsoft.com/office/drawing/2014/main" id="{23CF88BB-735F-41EC-8E5E-B335D128CE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5268996"/>
              </p:ext>
            </p:extLst>
          </p:nvPr>
        </p:nvGraphicFramePr>
        <p:xfrm>
          <a:off x="856901" y="3684644"/>
          <a:ext cx="4762206" cy="2073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1EBA0444-E682-4AB5-84E8-CAC31524371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36553" y="1267947"/>
            <a:ext cx="2721872" cy="379875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6878D1D-4BEC-4FC9-B8FE-0C78B3B4DF1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32784" y="1313509"/>
            <a:ext cx="3711658" cy="281574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06EF0201-F795-49CB-A00B-57B0F596BB92}"/>
              </a:ext>
            </a:extLst>
          </p:cNvPr>
          <p:cNvSpPr txBox="1"/>
          <p:nvPr/>
        </p:nvSpPr>
        <p:spPr>
          <a:xfrm>
            <a:off x="6572893" y="5044582"/>
            <a:ext cx="476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Source: Al-</a:t>
            </a:r>
            <a:r>
              <a:rPr lang="en-US" altLang="zh-CN" sz="1200" dirty="0" err="1"/>
              <a:t>Shetwi</a:t>
            </a:r>
            <a:r>
              <a:rPr lang="en-US" altLang="zh-CN" sz="1200" dirty="0"/>
              <a:t> et al., Appl. Sci. 2020, 10(22), 8121. (CC BY 4.0)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21600000">
            <a:off x="0" y="148590"/>
            <a:ext cx="12192000" cy="805179"/>
            <a:chOff x="0" y="0"/>
            <a:chExt cx="12192000" cy="805179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704215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4672988" y="100964"/>
              <a:ext cx="4559253" cy="704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5000"/>
                </a:lnSpc>
              </a:pPr>
              <a:r>
                <a:rPr lang="zh-CN" altLang="en-US" sz="2400" b="1" kern="0" spc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初期制作思路</a:t>
              </a:r>
              <a:r>
                <a:rPr lang="en-US" altLang="zh-CN" sz="2400" b="1" kern="0" spc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2400" b="1" kern="0" spc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高精度打印法</a:t>
              </a:r>
              <a:endParaRPr lang="en-US" sz="2400" baseline="1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41367"/>
            <a:ext cx="12191999" cy="108952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20476" y="5917907"/>
            <a:ext cx="895591" cy="52198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471910" y="436245"/>
            <a:ext cx="48133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kern="0" baseline="1000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5900" y="275590"/>
            <a:ext cx="2217420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3600" b="1" kern="0" spc="10" baseline="15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</a:t>
            </a:r>
            <a:endParaRPr lang="zh-CN" altLang="en-US" sz="3600" b="1" kern="0" spc="10" baseline="1500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3426A8-E0BB-45F8-8594-7F0CDC4969C0}"/>
              </a:ext>
            </a:extLst>
          </p:cNvPr>
          <p:cNvSpPr/>
          <p:nvPr/>
        </p:nvSpPr>
        <p:spPr>
          <a:xfrm>
            <a:off x="205177" y="4378527"/>
            <a:ext cx="450389" cy="1324806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6C8E653-4856-4D66-86C4-005701150C1E}"/>
                  </a:ext>
                </a:extLst>
              </p:cNvPr>
              <p:cNvSpPr txBox="1"/>
              <p:nvPr/>
            </p:nvSpPr>
            <p:spPr>
              <a:xfrm>
                <a:off x="283012" y="1016691"/>
                <a:ext cx="52956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设计逻辑： 理论模型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数字化编码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掩模制备。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6C8E653-4856-4D66-86C4-005701150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12" y="1016691"/>
                <a:ext cx="5295667" cy="369332"/>
              </a:xfrm>
              <a:prstGeom prst="rect">
                <a:avLst/>
              </a:prstGeom>
              <a:blipFill>
                <a:blip r:embed="rId5"/>
                <a:stretch>
                  <a:fillRect l="-921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078F4C4-EBBD-4F8B-9A5F-D9597E342F08}"/>
                  </a:ext>
                </a:extLst>
              </p:cNvPr>
              <p:cNvSpPr txBox="1"/>
              <p:nvPr/>
            </p:nvSpPr>
            <p:spPr>
              <a:xfrm>
                <a:off x="283012" y="1693601"/>
                <a:ext cx="4809105" cy="1231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kern="0" dirty="0">
                    <a:solidFill>
                      <a:srgbClr val="0B5AA8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技术路线</a:t>
                </a:r>
                <a:endParaRPr lang="en-US" altLang="zh-CN" sz="2000" b="1" kern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dirty="0"/>
                  <a:t>算法生成： </a:t>
                </a:r>
                <a:r>
                  <a:rPr lang="en-US" altLang="zh-CN" dirty="0"/>
                  <a:t>MATLAB/Python </a:t>
                </a:r>
                <a:r>
                  <a:rPr lang="zh-CN" altLang="en-US" dirty="0"/>
                  <a:t>离散化建模</a:t>
                </a:r>
                <a:endParaRPr lang="en-US" altLang="zh-CN" dirty="0"/>
              </a:p>
              <a:p>
                <a:r>
                  <a:rPr lang="zh-CN" altLang="en-US" dirty="0"/>
                  <a:t>硬件支持： 激光照排机（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3600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DPI</m:t>
                    </m:r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zh-CN" altLang="en-US" dirty="0"/>
                  <a:t>载体： 透明感光胶片</a:t>
                </a:r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078F4C4-EBBD-4F8B-9A5F-D9597E342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12" y="1693601"/>
                <a:ext cx="4809105" cy="1231106"/>
              </a:xfrm>
              <a:prstGeom prst="rect">
                <a:avLst/>
              </a:prstGeom>
              <a:blipFill>
                <a:blip r:embed="rId6"/>
                <a:stretch>
                  <a:fillRect l="-1267" t="-2970" b="-6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1EB2E77D-E415-467A-B763-6976EC0CF6D4}"/>
              </a:ext>
            </a:extLst>
          </p:cNvPr>
          <p:cNvSpPr txBox="1"/>
          <p:nvPr/>
        </p:nvSpPr>
        <p:spPr>
          <a:xfrm>
            <a:off x="283012" y="3053593"/>
            <a:ext cx="45742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kern="0" dirty="0">
                <a:solidFill>
                  <a:srgbClr val="0B5A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方案优势</a:t>
            </a:r>
            <a:endParaRPr lang="en-US" altLang="zh-CN" sz="2000" b="1" kern="0" dirty="0">
              <a:solidFill>
                <a:srgbClr val="0B5A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dirty="0"/>
              <a:t>低成本、高效率： 支持快速设计迭代</a:t>
            </a:r>
            <a:endParaRPr lang="en-US" altLang="zh-CN" dirty="0"/>
          </a:p>
          <a:p>
            <a:r>
              <a:rPr lang="zh-CN" altLang="en-US" dirty="0"/>
              <a:t>大尺寸适用： 适配一米级长焦距光路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BE0D588-4DC3-486E-AA96-33CBD2D395AD}"/>
                  </a:ext>
                </a:extLst>
              </p:cNvPr>
              <p:cNvSpPr txBox="1"/>
              <p:nvPr/>
            </p:nvSpPr>
            <p:spPr>
              <a:xfrm>
                <a:off x="283013" y="4168353"/>
                <a:ext cx="4985274" cy="1538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b="1" kern="0" dirty="0">
                    <a:solidFill>
                      <a:srgbClr val="0B5AA8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物理参数（暂定）</a:t>
                </a:r>
                <a:endParaRPr lang="en-US" altLang="zh-CN" sz="2000" b="1" kern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目标波长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: 632.8nm (He-Ne</a:t>
                </a:r>
                <a:r>
                  <a:rPr lang="zh-CN" altLang="en-US" dirty="0"/>
                  <a:t>激光</a:t>
                </a:r>
                <a:r>
                  <a:rPr lang="en-US" altLang="zh-CN" dirty="0"/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设计焦距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altLang="zh-CN" dirty="0"/>
                  <a:t> : 1m</a:t>
                </a:r>
                <a:r>
                  <a:rPr lang="zh-CN" altLang="en-US" dirty="0"/>
                  <a:t>（优化选择，平衡加工精度）。环数 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/>
                  <a:t>) : 100 </a:t>
                </a:r>
                <a:r>
                  <a:rPr lang="zh-CN" altLang="en-US" dirty="0"/>
                  <a:t>环。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B5AA8">
                      <a:alpha val="100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BE0D588-4DC3-486E-AA96-33CBD2D39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13" y="4168353"/>
                <a:ext cx="4985274" cy="1538883"/>
              </a:xfrm>
              <a:prstGeom prst="rect">
                <a:avLst/>
              </a:prstGeom>
              <a:blipFill>
                <a:blip r:embed="rId7"/>
                <a:stretch>
                  <a:fillRect l="-1222" t="-2381" r="-5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F23C9FB3-A1F8-4AC1-9386-BD52D4505D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9953" y="972695"/>
            <a:ext cx="2863462" cy="343390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5CA800A-F8E6-4396-A1CD-C3BD76FD419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247" y="905116"/>
            <a:ext cx="2956820" cy="2956820"/>
          </a:xfrm>
          <a:prstGeom prst="rect">
            <a:avLst/>
          </a:prstGeom>
        </p:spPr>
      </p:pic>
      <p:sp>
        <p:nvSpPr>
          <p:cNvPr id="29" name="箭头: 右 28">
            <a:extLst>
              <a:ext uri="{FF2B5EF4-FFF2-40B4-BE49-F238E27FC236}">
                <a16:creationId xmlns:a16="http://schemas.microsoft.com/office/drawing/2014/main" id="{22FA5121-80BF-48C4-89C2-76275FBEB741}"/>
              </a:ext>
            </a:extLst>
          </p:cNvPr>
          <p:cNvSpPr/>
          <p:nvPr/>
        </p:nvSpPr>
        <p:spPr>
          <a:xfrm>
            <a:off x="8187655" y="2309154"/>
            <a:ext cx="671592" cy="3837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53CFB56-70CA-46D0-A7DF-943658BE0E30}"/>
              </a:ext>
            </a:extLst>
          </p:cNvPr>
          <p:cNvSpPr txBox="1"/>
          <p:nvPr/>
        </p:nvSpPr>
        <p:spPr>
          <a:xfrm>
            <a:off x="9171587" y="3914247"/>
            <a:ext cx="2332140" cy="381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菲涅尔波带片示意图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4E2A3DA-31D7-45FC-8B6C-C6E48A363929}"/>
                  </a:ext>
                </a:extLst>
              </p:cNvPr>
              <p:cNvSpPr txBox="1"/>
              <p:nvPr/>
            </p:nvSpPr>
            <p:spPr>
              <a:xfrm>
                <a:off x="6601684" y="4428673"/>
                <a:ext cx="3538056" cy="934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  <m:t>𝑛</m:t>
                          </m:r>
                        </m:sub>
                      </m:sSub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charset="-122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  <m:t>𝑛𝑓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  <m:t>𝜆</m:t>
                          </m:r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  <m:t>+</m:t>
                          </m:r>
                          <m:f>
                            <m:fPr>
                              <m:ctrlP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+mn-cs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+mn-cs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charset="-122"/>
                          <a:cs typeface="+mn-cs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  <m:t>𝑛𝑓</m:t>
                          </m:r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+mn-cs"/>
                            </a:rPr>
                            <m:t>𝜆</m:t>
                          </m:r>
                        </m:e>
                      </m:rad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4E2A3DA-31D7-45FC-8B6C-C6E48A363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684" y="4428673"/>
                <a:ext cx="3538056" cy="9347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081C665-B488-476E-A2FC-0EB5E309746A}"/>
                  </a:ext>
                </a:extLst>
              </p:cNvPr>
              <p:cNvSpPr txBox="1"/>
              <p:nvPr/>
            </p:nvSpPr>
            <p:spPr>
              <a:xfrm>
                <a:off x="7099184" y="5217321"/>
                <a:ext cx="2552507" cy="461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l-GR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sSub>
                      <m:sSubPr>
                        <m:ctrlPr>
                          <a:rPr kumimoji="0" lang="el-GR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l-GR" altLang="zh-CN" dirty="0">
                    <a:solidFill>
                      <a:srgbClr val="00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l-GR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081C665-B488-476E-A2FC-0EB5E3097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184" y="5217321"/>
                <a:ext cx="2552507" cy="461473"/>
              </a:xfrm>
              <a:prstGeom prst="rect">
                <a:avLst/>
              </a:prstGeom>
              <a:blipFill>
                <a:blip r:embed="rId11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>
            <a:extLst>
              <a:ext uri="{FF2B5EF4-FFF2-40B4-BE49-F238E27FC236}">
                <a16:creationId xmlns:a16="http://schemas.microsoft.com/office/drawing/2014/main" id="{B48123AF-1828-4D9E-BF7E-A3C742AB43DB}"/>
              </a:ext>
            </a:extLst>
          </p:cNvPr>
          <p:cNvSpPr txBox="1"/>
          <p:nvPr/>
        </p:nvSpPr>
        <p:spPr>
          <a:xfrm>
            <a:off x="5765787" y="5263391"/>
            <a:ext cx="1517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最外环宽度：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402732B-3D76-4DF2-A98D-E58351CB108F}"/>
              </a:ext>
            </a:extLst>
          </p:cNvPr>
          <p:cNvSpPr txBox="1"/>
          <p:nvPr/>
        </p:nvSpPr>
        <p:spPr>
          <a:xfrm>
            <a:off x="5637402" y="297389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92D5903-D795-42E7-8DDC-A215B59979A6}"/>
                  </a:ext>
                </a:extLst>
              </p:cNvPr>
              <p:cNvSpPr txBox="1"/>
              <p:nvPr/>
            </p:nvSpPr>
            <p:spPr>
              <a:xfrm>
                <a:off x="6067259" y="5745530"/>
                <a:ext cx="4240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由瑞利判据，分辨率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RES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1.22∙</m:t>
                    </m:r>
                    <m:r>
                      <m:rPr>
                        <m:sty m:val="p"/>
                      </m:rPr>
                      <a:rPr lang="el-GR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sSub>
                      <m:sSubPr>
                        <m:ctrlPr>
                          <a:rPr lang="el-GR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92D5903-D795-42E7-8DDC-A215B5997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259" y="5745530"/>
                <a:ext cx="4240791" cy="369332"/>
              </a:xfrm>
              <a:prstGeom prst="rect">
                <a:avLst/>
              </a:prstGeom>
              <a:blipFill>
                <a:blip r:embed="rId12"/>
                <a:stretch>
                  <a:fillRect l="-1149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4CC8C49-15FE-4D84-B033-05E18202E703}"/>
                  </a:ext>
                </a:extLst>
              </p:cNvPr>
              <p:cNvSpPr txBox="1"/>
              <p:nvPr/>
            </p:nvSpPr>
            <p:spPr>
              <a:xfrm>
                <a:off x="2248326" y="6142405"/>
                <a:ext cx="80597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环数越多，焦距越短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dirty="0"/>
                  <a:t> 最外环越细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dirty="0"/>
                  <a:t> 对加工工艺（图形转移精度）挑战越大。</a:t>
                </a:r>
              </a:p>
            </p:txBody>
          </p:sp>
        </mc:Choice>
        <mc:Fallback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4CC8C49-15FE-4D84-B033-05E18202E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326" y="6142405"/>
                <a:ext cx="8059724" cy="369332"/>
              </a:xfrm>
              <a:prstGeom prst="rect">
                <a:avLst/>
              </a:prstGeom>
              <a:blipFill>
                <a:blip r:embed="rId13"/>
                <a:stretch>
                  <a:fillRect l="-681" t="-10000" r="-340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181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21600000">
            <a:off x="0" y="148590"/>
            <a:ext cx="12192000" cy="805179"/>
            <a:chOff x="0" y="0"/>
            <a:chExt cx="12192000" cy="805179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704215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5518257" y="100964"/>
              <a:ext cx="2868715" cy="704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5000"/>
                </a:lnSpc>
              </a:pPr>
              <a:r>
                <a:rPr lang="zh-CN" altLang="en-US" sz="2400" b="1" kern="0" spc="0" dirty="0">
                  <a:solidFill>
                    <a:srgbClr val="0B5A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工艺权衡与瓶颈突破</a:t>
              </a:r>
              <a:endParaRPr lang="en-US" sz="2400" baseline="1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41367"/>
            <a:ext cx="12191999" cy="108952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20476" y="5917907"/>
            <a:ext cx="895591" cy="52198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471910" y="436245"/>
            <a:ext cx="48133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kern="0" baseline="1000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5900" y="275590"/>
            <a:ext cx="2217420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3600" b="1" kern="0" spc="10" baseline="15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</a:t>
            </a:r>
            <a:endParaRPr lang="zh-CN" altLang="en-US" sz="3600" b="1" kern="0" spc="10" baseline="1500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F26BFF3-2BF3-4F16-9CFC-2C965BC38BE3}"/>
                  </a:ext>
                </a:extLst>
              </p:cNvPr>
              <p:cNvSpPr txBox="1"/>
              <p:nvPr/>
            </p:nvSpPr>
            <p:spPr>
              <a:xfrm>
                <a:off x="211588" y="4002881"/>
                <a:ext cx="73969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当前瓶颈：振幅型掩模存在光能损失（效率上限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10.1%</m:t>
                    </m:r>
                  </m:oMath>
                </a14:m>
                <a:r>
                  <a:rPr lang="zh-CN" altLang="en-US" dirty="0"/>
                  <a:t>）。</a:t>
                </a:r>
                <a:endParaRPr lang="en-US" altLang="zh-CN" dirty="0"/>
              </a:p>
              <a:p>
                <a:r>
                  <a:rPr lang="zh-CN" altLang="en-US" dirty="0"/>
                  <a:t>优化预研：探索从“阻挡光”到“相位调制”的跨越（提升至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40.5%</m:t>
                    </m:r>
                  </m:oMath>
                </a14:m>
                <a:r>
                  <a:rPr lang="zh-CN" altLang="en-US" dirty="0"/>
                  <a:t>）。</a:t>
                </a:r>
                <a:endParaRPr lang="en-US" altLang="zh-CN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F26BFF3-2BF3-4F16-9CFC-2C965BC38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88" y="4002881"/>
                <a:ext cx="7396992" cy="646331"/>
              </a:xfrm>
              <a:prstGeom prst="rect">
                <a:avLst/>
              </a:prstGeom>
              <a:blipFill>
                <a:blip r:embed="rId5"/>
                <a:stretch>
                  <a:fillRect l="-742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7948939F-E1D4-4A51-B407-9E774E3F5F4D}"/>
              </a:ext>
            </a:extLst>
          </p:cNvPr>
          <p:cNvSpPr txBox="1"/>
          <p:nvPr/>
        </p:nvSpPr>
        <p:spPr>
          <a:xfrm>
            <a:off x="1512116" y="1015599"/>
            <a:ext cx="2866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B5AA8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工艺制约下的性能权衡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B5AA8">
                  <a:alpha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02BF6BE-DFE0-46F9-97B0-4D0152AE4C2E}"/>
              </a:ext>
            </a:extLst>
          </p:cNvPr>
          <p:cNvSpPr txBox="1"/>
          <p:nvPr/>
        </p:nvSpPr>
        <p:spPr>
          <a:xfrm>
            <a:off x="488659" y="1393461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分辨率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vs.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加工精度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为什么不直接做短焦距？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791FD8A-4DCC-483B-BD25-FD00CAB5E0AB}"/>
                  </a:ext>
                </a:extLst>
              </p:cNvPr>
              <p:cNvSpPr txBox="1"/>
              <p:nvPr/>
            </p:nvSpPr>
            <p:spPr>
              <a:xfrm>
                <a:off x="215900" y="1746299"/>
                <a:ext cx="68600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短焦距 </a:t>
                </a:r>
                <a14:m>
                  <m:oMath xmlns:m="http://schemas.openxmlformats.org/officeDocument/2006/math">
                    <m:r>
                      <a:rPr kumimoji="0" lang="zh-CN" alt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  <m:r>
                      <m:rPr>
                        <m:sty m:val="p"/>
                      </m:rPr>
                      <a:rPr kumimoji="0" lang="el-GR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sSub>
                      <m:sSubPr>
                        <m:ctrlPr>
                          <a:rPr kumimoji="0" lang="el-GR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𝑁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过细 </a:t>
                </a:r>
                <a14:m>
                  <m:oMath xmlns:m="http://schemas.openxmlformats.org/officeDocument/2006/math"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超出掩模特征尺寸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(CD)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极限 </a:t>
                </a:r>
                <a14:m>
                  <m:oMath xmlns:m="http://schemas.openxmlformats.org/officeDocument/2006/math"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边缘模糊。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791FD8A-4DCC-483B-BD25-FD00CAB5E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1746299"/>
                <a:ext cx="6860097" cy="369332"/>
              </a:xfrm>
              <a:prstGeom prst="rect">
                <a:avLst/>
              </a:prstGeom>
              <a:blipFill>
                <a:blip r:embed="rId6"/>
                <a:stretch>
                  <a:fillRect l="-710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B947D30C-F657-4CDB-909D-A50514161357}"/>
              </a:ext>
            </a:extLst>
          </p:cNvPr>
          <p:cNvSpPr txBox="1"/>
          <p:nvPr/>
        </p:nvSpPr>
        <p:spPr>
          <a:xfrm>
            <a:off x="215900" y="2064270"/>
            <a:ext cx="6302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解决方案： 通过长焦距“放大”边缘条纹，确保衍射极限性能。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863A2A7-528B-44C0-B1B5-A8FE3716A462}"/>
              </a:ext>
            </a:extLst>
          </p:cNvPr>
          <p:cNvSpPr txBox="1"/>
          <p:nvPr/>
        </p:nvSpPr>
        <p:spPr>
          <a:xfrm>
            <a:off x="1512116" y="3526110"/>
            <a:ext cx="2808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0" dirty="0">
                <a:solidFill>
                  <a:srgbClr val="0B5A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效率瓶颈与未来路线</a:t>
            </a:r>
            <a:endParaRPr lang="en-US" altLang="zh-CN" sz="2000" b="1" kern="0" dirty="0">
              <a:solidFill>
                <a:srgbClr val="0B5AA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B0C36EF-CBE2-4EEF-8A59-080373C586F3}"/>
              </a:ext>
            </a:extLst>
          </p:cNvPr>
          <p:cNvSpPr txBox="1"/>
          <p:nvPr/>
        </p:nvSpPr>
        <p:spPr>
          <a:xfrm>
            <a:off x="18875" y="5265707"/>
            <a:ext cx="6302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误差分析：数字化量化误差（阶梯效应）对焦点形状的影响。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DDE731F-952F-4C1B-BB7B-D60D6EE4F38E}"/>
                  </a:ext>
                </a:extLst>
              </p:cNvPr>
              <p:cNvSpPr txBox="1"/>
              <p:nvPr/>
            </p:nvSpPr>
            <p:spPr>
              <a:xfrm>
                <a:off x="2123037" y="4635730"/>
                <a:ext cx="3188667" cy="36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accent1"/>
                    </a:solidFill>
                  </a:rPr>
                  <a:t>振幅型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1">
                        <a:solidFill>
                          <a:schemeClr val="accent1"/>
                        </a:solidFill>
                      </a:rPr>
                      <m:t>→</m:t>
                    </m:r>
                    <m:r>
                      <a:rPr lang="en-US" altLang="zh-CN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solidFill>
                      <a:schemeClr val="accent1"/>
                    </a:solidFill>
                  </a:rPr>
                  <a:t>相位型</a:t>
                </a: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DDE731F-952F-4C1B-BB7B-D60D6EE4F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037" y="4635730"/>
                <a:ext cx="3188667" cy="368104"/>
              </a:xfrm>
              <a:prstGeom prst="rect">
                <a:avLst/>
              </a:prstGeom>
              <a:blipFill>
                <a:blip r:embed="rId7"/>
                <a:stretch>
                  <a:fillRect l="-1530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71278125-79D1-4281-9125-1B9353DF421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114" t="495" r="-143" b="49505"/>
          <a:stretch/>
        </p:blipFill>
        <p:spPr>
          <a:xfrm>
            <a:off x="9774129" y="854495"/>
            <a:ext cx="1861401" cy="186416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52921AB-10D6-4CF8-A2F2-DED3E6DBDBF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91" t="13725" r="48934" b="47839"/>
          <a:stretch/>
        </p:blipFill>
        <p:spPr>
          <a:xfrm>
            <a:off x="7077186" y="859164"/>
            <a:ext cx="2055904" cy="187441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04AA83F-6376-4020-BCD1-A8AEC9FEF731}"/>
              </a:ext>
            </a:extLst>
          </p:cNvPr>
          <p:cNvSpPr txBox="1"/>
          <p:nvPr/>
        </p:nvSpPr>
        <p:spPr>
          <a:xfrm>
            <a:off x="5578678" y="380574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D1B6AD-8B0A-40F4-BD32-206D79A4A1D9}"/>
              </a:ext>
            </a:extLst>
          </p:cNvPr>
          <p:cNvSpPr txBox="1"/>
          <p:nvPr/>
        </p:nvSpPr>
        <p:spPr>
          <a:xfrm>
            <a:off x="8395963" y="2755235"/>
            <a:ext cx="2592134" cy="372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</a:t>
            </a:r>
            <a:r>
              <a:rPr lang="en-US" altLang="zh-CN" dirty="0"/>
              <a:t>CD</a:t>
            </a:r>
            <a:r>
              <a:rPr lang="zh-CN" altLang="en-US" dirty="0"/>
              <a:t>限制分辨率对比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09797BD-182F-4021-8FFE-45F166B05662}"/>
              </a:ext>
            </a:extLst>
          </p:cNvPr>
          <p:cNvSpPr txBox="1"/>
          <p:nvPr/>
        </p:nvSpPr>
        <p:spPr>
          <a:xfrm>
            <a:off x="1818314" y="2624204"/>
            <a:ext cx="2895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即用 “空间” 换 “精度”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A45304F-776D-44B6-94E9-68854D79F6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6088" y="3127932"/>
            <a:ext cx="4162892" cy="2775261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F9B4E03B-1C71-4EC6-B2A8-41F3E1831E0F}"/>
              </a:ext>
            </a:extLst>
          </p:cNvPr>
          <p:cNvSpPr txBox="1"/>
          <p:nvPr/>
        </p:nvSpPr>
        <p:spPr>
          <a:xfrm>
            <a:off x="8429872" y="5629504"/>
            <a:ext cx="184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相位型与振幅型</a:t>
            </a:r>
          </a:p>
        </p:txBody>
      </p:sp>
    </p:spTree>
    <p:extLst>
      <p:ext uri="{BB962C8B-B14F-4D97-AF65-F5344CB8AC3E}">
        <p14:creationId xmlns:p14="http://schemas.microsoft.com/office/powerpoint/2010/main" val="3515918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689</Words>
  <Application>Microsoft Office PowerPoint</Application>
  <PresentationFormat>宽屏</PresentationFormat>
  <Paragraphs>67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微软雅黑</vt:lpstr>
      <vt:lpstr>Arial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ZhanshanWang</dc:creator>
  <cp:lastModifiedBy>相廷 董</cp:lastModifiedBy>
  <cp:revision>22</cp:revision>
  <dcterms:created xsi:type="dcterms:W3CDTF">2026-03-24T13:28:20Z</dcterms:created>
  <dcterms:modified xsi:type="dcterms:W3CDTF">2026-03-27T03:04:19Z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2026-03-24T21:27:33Z</vt:filetime>
  </property>
  <property fmtid="{D5CDD505-2E9C-101B-9397-08002B2CF9AE}" pid="4" name="ICV">
    <vt:lpwstr>5A11C82A02D8452E9B6ECF8A97051F51_12</vt:lpwstr>
  </property>
  <property fmtid="{D5CDD505-2E9C-101B-9397-08002B2CF9AE}" pid="5" name="KSOProductBuildVer">
    <vt:lpwstr>2052-12.1.0.25225</vt:lpwstr>
  </property>
</Properties>
</file>